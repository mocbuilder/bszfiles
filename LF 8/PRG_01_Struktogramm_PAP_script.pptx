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906000" cy="6858000" type="A4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718" autoAdjust="0"/>
  </p:normalViewPr>
  <p:slideViewPr>
    <p:cSldViewPr>
      <p:cViewPr>
        <p:scale>
          <a:sx n="90" d="100"/>
          <a:sy n="90" d="100"/>
        </p:scale>
        <p:origin x="-1998" y="-55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AT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AT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smtClean="0"/>
              <a:t>Klicken Sie, um die Formate des Vorlagentextes zu bearbeiten</a:t>
            </a:r>
          </a:p>
          <a:p>
            <a:pPr lvl="1"/>
            <a:r>
              <a:rPr lang="de-AT" smtClean="0"/>
              <a:t>Zweite Ebene</a:t>
            </a:r>
          </a:p>
          <a:p>
            <a:pPr lvl="2"/>
            <a:r>
              <a:rPr lang="de-AT" smtClean="0"/>
              <a:t>Dritte Ebene</a:t>
            </a:r>
          </a:p>
          <a:p>
            <a:pPr lvl="3"/>
            <a:r>
              <a:rPr lang="de-AT" smtClean="0"/>
              <a:t>Vierte Ebene</a:t>
            </a:r>
          </a:p>
          <a:p>
            <a:pPr lvl="4"/>
            <a:r>
              <a:rPr lang="de-AT" smtClean="0"/>
              <a:t>Fünfte Ebene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AT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75686AE-ADC4-4D1D-800B-6B98BFCCC8C8}" type="slidenum">
              <a:rPr lang="de-AT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793222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1052736"/>
            <a:ext cx="8420100" cy="5256583"/>
          </a:xfrm>
        </p:spPr>
        <p:txBody>
          <a:bodyPr anchor="t" anchorCtr="0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41A762A-7606-42EB-A0A3-1C2D98CB7A60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Schneider A. (Sne)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23988" y="116632"/>
            <a:ext cx="6841380" cy="504056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 lvl="0"/>
            <a:r>
              <a:rPr lang="de-DE" altLang="de-DE" noProof="0" dirty="0" smtClean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1840215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379819-B5C9-42BC-A9D8-7842DF72488D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Schneider A. (Sne)</a:t>
            </a:r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424608" y="35472"/>
            <a:ext cx="6912768" cy="585216"/>
          </a:xfrm>
          <a:prstGeom prst="rect">
            <a:avLst/>
          </a:prstGeom>
        </p:spPr>
        <p:txBody>
          <a:bodyPr anchor="ctr" anchorCtr="0"/>
          <a:lstStyle>
            <a:lvl1pPr>
              <a:defRPr sz="200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1817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764704"/>
            <a:ext cx="5537200" cy="53614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764704"/>
            <a:ext cx="3259138" cy="53614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78CDDE5-E965-445F-91DD-5FA81EA96044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Schneider A. (Sne)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1568450" y="0"/>
            <a:ext cx="6768926" cy="620688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44766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3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 smtClean="0"/>
              <a:t>Hier</a:t>
            </a:r>
            <a:r>
              <a:rPr lang="en-US" dirty="0" smtClean="0"/>
              <a:t> </a:t>
            </a:r>
            <a:r>
              <a:rPr lang="en-US" dirty="0" err="1" smtClean="0"/>
              <a:t>klicken</a:t>
            </a:r>
            <a:r>
              <a:rPr lang="en-US" dirty="0" smtClean="0"/>
              <a:t>, um Master-</a:t>
            </a:r>
            <a:r>
              <a:rPr lang="en-US" dirty="0" err="1" smtClean="0"/>
              <a:t>Textformat</a:t>
            </a:r>
            <a:r>
              <a:rPr lang="en-US" dirty="0" smtClean="0"/>
              <a:t> </a:t>
            </a:r>
            <a:r>
              <a:rPr lang="en-US" dirty="0" err="1" smtClean="0"/>
              <a:t>zu</a:t>
            </a:r>
            <a:r>
              <a:rPr lang="en-US" dirty="0" smtClean="0"/>
              <a:t> </a:t>
            </a:r>
            <a:r>
              <a:rPr lang="en-US" dirty="0" err="1" smtClean="0"/>
              <a:t>bearbeiten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Zweite</a:t>
            </a:r>
            <a:r>
              <a:rPr lang="en-US" dirty="0" smtClean="0"/>
              <a:t> </a:t>
            </a:r>
            <a:r>
              <a:rPr lang="en-US" dirty="0" err="1" smtClean="0"/>
              <a:t>Ebene</a:t>
            </a:r>
            <a:endParaRPr lang="en-US" dirty="0" smtClean="0"/>
          </a:p>
          <a:p>
            <a:pPr lvl="2"/>
            <a:r>
              <a:rPr lang="en-US" dirty="0" err="1" smtClean="0"/>
              <a:t>Dritte</a:t>
            </a:r>
            <a:r>
              <a:rPr lang="en-US" dirty="0" smtClean="0"/>
              <a:t> </a:t>
            </a:r>
            <a:r>
              <a:rPr lang="en-US" dirty="0" err="1" smtClean="0"/>
              <a:t>Ebene</a:t>
            </a:r>
            <a:endParaRPr lang="en-US" dirty="0" smtClean="0"/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16375" y="6584950"/>
            <a:ext cx="1371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1D34DA49-5885-44AD-BFB9-3F0B4C2A72E9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185150" y="6597352"/>
            <a:ext cx="16637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latin typeface="+mn-lt"/>
              </a:defRPr>
            </a:lvl1pPr>
          </a:lstStyle>
          <a:p>
            <a:r>
              <a:rPr lang="de-DE"/>
              <a:t>Schneider A. (Sne)</a:t>
            </a:r>
          </a:p>
        </p:txBody>
      </p:sp>
      <p:sp>
        <p:nvSpPr>
          <p:cNvPr id="2064" name="Line 16"/>
          <p:cNvSpPr>
            <a:spLocks noChangeShapeType="1"/>
          </p:cNvSpPr>
          <p:nvPr userDrawn="1"/>
        </p:nvSpPr>
        <p:spPr bwMode="auto">
          <a:xfrm>
            <a:off x="71438" y="692696"/>
            <a:ext cx="9705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65" name="Line 17"/>
          <p:cNvSpPr>
            <a:spLocks noChangeShapeType="1"/>
          </p:cNvSpPr>
          <p:nvPr userDrawn="1"/>
        </p:nvSpPr>
        <p:spPr bwMode="auto">
          <a:xfrm>
            <a:off x="57150" y="6524625"/>
            <a:ext cx="9705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67" name="Text Box 19"/>
          <p:cNvSpPr txBox="1">
            <a:spLocks noChangeArrowheads="1"/>
          </p:cNvSpPr>
          <p:nvPr userDrawn="1"/>
        </p:nvSpPr>
        <p:spPr bwMode="auto">
          <a:xfrm>
            <a:off x="55563" y="44450"/>
            <a:ext cx="1296987" cy="576263"/>
          </a:xfrm>
          <a:prstGeom prst="rect">
            <a:avLst/>
          </a:prstGeom>
          <a:solidFill>
            <a:schemeClr val="accent2">
              <a:lumMod val="20000"/>
              <a:lumOff val="80000"/>
              <a:alpha val="32000"/>
            </a:schemeClr>
          </a:solidFill>
          <a:ln w="12700">
            <a:solidFill>
              <a:srgbClr val="000080"/>
            </a:solidFill>
            <a:round/>
            <a:headEnd/>
            <a:tailEnd/>
          </a:ln>
          <a:effectLst/>
          <a:extLst/>
        </p:spPr>
        <p:txBody>
          <a:bodyPr lIns="90000" tIns="45000" rIns="90000" bIns="45000" anchor="ctr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1200" dirty="0" smtClean="0">
                <a:effectLst/>
                <a:latin typeface="Times New Roman"/>
                <a:ea typeface="Times New Roman"/>
              </a:rPr>
              <a:t>Totally Integrated Automation </a:t>
            </a:r>
            <a:endParaRPr lang="de-DE" sz="1200" b="1" dirty="0">
              <a:solidFill>
                <a:srgbClr val="000099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048" y="44450"/>
            <a:ext cx="1406488" cy="643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5" r:id="rId2"/>
    <p:sldLayoutId id="2147483657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baseline="0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000099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BF4100"/>
        </a:buClr>
        <a:buSzPct val="90000"/>
        <a:buFont typeface="Monotype Sorts" pitchFamily="2" charset="2"/>
        <a:buChar char="l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90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0007F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Formale Darstellung von Algorithmen</a:t>
            </a:r>
            <a:endParaRPr lang="de-DE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2"/>
            <a:ext cx="9361040" cy="1296144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Bei der Darstellung von Algorithmen liegt der Schwerpunkt vor </a:t>
            </a:r>
            <a:r>
              <a:rPr lang="de-DE" sz="2000" dirty="0" smtClean="0"/>
              <a:t>allem auf </a:t>
            </a:r>
            <a:r>
              <a:rPr lang="de-DE" sz="2000" dirty="0"/>
              <a:t>der Darstellung der zeitlichen Ablauffolge, dem </a:t>
            </a:r>
            <a:r>
              <a:rPr lang="de-DE" sz="2000" dirty="0" smtClean="0"/>
              <a:t>sogenannten </a:t>
            </a:r>
            <a:r>
              <a:rPr lang="de-DE" sz="2000" b="1" dirty="0" smtClean="0">
                <a:solidFill>
                  <a:srgbClr val="000080"/>
                </a:solidFill>
                <a:latin typeface="Times New Roman"/>
                <a:ea typeface="Times New Roman"/>
              </a:rPr>
              <a:t>Steuerfluss </a:t>
            </a:r>
            <a:r>
              <a:rPr lang="de-DE" sz="2000" dirty="0" smtClean="0"/>
              <a:t>und </a:t>
            </a:r>
            <a:r>
              <a:rPr lang="de-DE" sz="2000" dirty="0"/>
              <a:t>nicht auf der Darstellung der </a:t>
            </a:r>
            <a:r>
              <a:rPr lang="de-DE" sz="2000" dirty="0" smtClean="0"/>
              <a:t>einzelnen elementaren </a:t>
            </a:r>
            <a:r>
              <a:rPr lang="de-DE" sz="2000" dirty="0"/>
              <a:t>Anweisung an sich</a:t>
            </a:r>
            <a:r>
              <a:rPr lang="de-DE" sz="2000" dirty="0" smtClean="0"/>
              <a:t>.</a:t>
            </a:r>
          </a:p>
          <a:p>
            <a:endParaRPr lang="de-DE" sz="2000" dirty="0"/>
          </a:p>
          <a:p>
            <a:endParaRPr lang="de-DE" sz="2000" dirty="0" smtClean="0">
              <a:latin typeface="Times New Roman"/>
              <a:ea typeface="Times New Roman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87944" y="2420888"/>
            <a:ext cx="9361040" cy="302433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b="1" dirty="0"/>
              <a:t>Theorem von Böhm und </a:t>
            </a:r>
            <a:r>
              <a:rPr lang="de-DE" sz="2000" b="1" dirty="0" err="1" smtClean="0"/>
              <a:t>Jacopini</a:t>
            </a:r>
            <a:endParaRPr lang="de-DE" sz="2000" b="1" dirty="0" smtClean="0"/>
          </a:p>
          <a:p>
            <a:endParaRPr lang="de-DE" sz="2000" b="1" dirty="0"/>
          </a:p>
          <a:p>
            <a:r>
              <a:rPr lang="de-DE" sz="2000" dirty="0"/>
              <a:t>Mit nur drei logischen </a:t>
            </a:r>
            <a:r>
              <a:rPr lang="de-DE" sz="2000" dirty="0" smtClean="0"/>
              <a:t>Elementarstrukturen</a:t>
            </a:r>
          </a:p>
          <a:p>
            <a:endParaRPr lang="de-DE" sz="2000" dirty="0"/>
          </a:p>
          <a:p>
            <a:r>
              <a:rPr lang="de-DE" sz="2000" b="1" dirty="0" smtClean="0">
                <a:solidFill>
                  <a:srgbClr val="000080"/>
                </a:solidFill>
                <a:latin typeface="Times New Roman"/>
                <a:ea typeface="Times New Roman"/>
              </a:rPr>
              <a:t>	- </a:t>
            </a:r>
            <a:r>
              <a:rPr lang="de-DE" sz="2000" b="1" dirty="0">
                <a:solidFill>
                  <a:srgbClr val="000080"/>
                </a:solidFill>
                <a:latin typeface="Times New Roman"/>
                <a:ea typeface="Times New Roman"/>
              </a:rPr>
              <a:t>Sequenz</a:t>
            </a:r>
          </a:p>
          <a:p>
            <a:r>
              <a:rPr lang="de-DE" sz="2000" b="1" dirty="0" smtClean="0">
                <a:solidFill>
                  <a:srgbClr val="000080"/>
                </a:solidFill>
                <a:latin typeface="Times New Roman"/>
                <a:ea typeface="Times New Roman"/>
              </a:rPr>
              <a:t>	- </a:t>
            </a:r>
            <a:r>
              <a:rPr lang="de-DE" sz="2000" b="1" dirty="0">
                <a:solidFill>
                  <a:srgbClr val="000080"/>
                </a:solidFill>
                <a:latin typeface="Times New Roman"/>
                <a:ea typeface="Times New Roman"/>
              </a:rPr>
              <a:t>Selektion</a:t>
            </a:r>
          </a:p>
          <a:p>
            <a:r>
              <a:rPr lang="de-DE" sz="2000" b="1" dirty="0" smtClean="0">
                <a:solidFill>
                  <a:srgbClr val="000080"/>
                </a:solidFill>
                <a:latin typeface="Times New Roman"/>
                <a:ea typeface="Times New Roman"/>
              </a:rPr>
              <a:t>	- Zyklus</a:t>
            </a:r>
          </a:p>
          <a:p>
            <a:endParaRPr lang="de-DE" sz="2000" b="1" dirty="0">
              <a:solidFill>
                <a:srgbClr val="000080"/>
              </a:solidFill>
              <a:latin typeface="Times New Roman"/>
              <a:ea typeface="Times New Roman"/>
            </a:endParaRPr>
          </a:p>
          <a:p>
            <a:r>
              <a:rPr lang="de-DE" sz="2000" dirty="0"/>
              <a:t>lässt sich jedes </a:t>
            </a:r>
            <a:r>
              <a:rPr lang="de-DE" sz="2000" b="1" dirty="0" err="1">
                <a:solidFill>
                  <a:srgbClr val="000080"/>
                </a:solidFill>
                <a:latin typeface="Times New Roman"/>
                <a:ea typeface="Times New Roman"/>
              </a:rPr>
              <a:t>algorithmierbare</a:t>
            </a:r>
            <a:r>
              <a:rPr lang="de-DE" sz="2000" dirty="0"/>
              <a:t> Problem darstellen.</a:t>
            </a:r>
            <a:endParaRPr lang="de-DE" sz="20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744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Formale Darstellung von Algorithmen</a:t>
            </a:r>
            <a:endParaRPr lang="de-DE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2"/>
            <a:ext cx="9361040" cy="2592288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Es wurden zwei verschiedene Darstellungsformen entwickelt, </a:t>
            </a:r>
            <a:r>
              <a:rPr lang="de-DE" sz="2000" dirty="0" smtClean="0"/>
              <a:t>die hauptsächlich </a:t>
            </a:r>
            <a:r>
              <a:rPr lang="de-DE" sz="2000" dirty="0"/>
              <a:t>in Gebrauch sind und auf grafische </a:t>
            </a:r>
            <a:r>
              <a:rPr lang="de-DE" sz="2000" dirty="0" smtClean="0"/>
              <a:t>Symbole zurückgreifen:</a:t>
            </a:r>
          </a:p>
          <a:p>
            <a:endParaRPr lang="de-DE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 smtClean="0"/>
              <a:t> </a:t>
            </a:r>
            <a:r>
              <a:rPr lang="de-DE" sz="2000" b="1" dirty="0">
                <a:solidFill>
                  <a:srgbClr val="000080"/>
                </a:solidFill>
                <a:latin typeface="Times New Roman"/>
                <a:ea typeface="Times New Roman"/>
              </a:rPr>
              <a:t>Programmablaufplan</a:t>
            </a:r>
            <a:r>
              <a:rPr lang="de-DE" sz="2000" dirty="0" smtClean="0"/>
              <a:t> </a:t>
            </a:r>
            <a:r>
              <a:rPr lang="de-DE" sz="2000" dirty="0"/>
              <a:t>(</a:t>
            </a:r>
            <a:r>
              <a:rPr lang="de-DE" sz="2000" dirty="0" err="1"/>
              <a:t>abk.</a:t>
            </a:r>
            <a:r>
              <a:rPr lang="de-DE" sz="2000" dirty="0"/>
              <a:t> PAP)</a:t>
            </a:r>
          </a:p>
          <a:p>
            <a:r>
              <a:rPr lang="de-DE" sz="2000" dirty="0"/>
              <a:t>	</a:t>
            </a:r>
            <a:r>
              <a:rPr lang="de-DE" sz="2000" dirty="0" smtClean="0"/>
              <a:t>nach </a:t>
            </a:r>
            <a:r>
              <a:rPr lang="de-DE" sz="2000" dirty="0"/>
              <a:t>DIN 66001 </a:t>
            </a:r>
            <a:endParaRPr lang="de-DE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 smtClean="0"/>
              <a:t>  </a:t>
            </a:r>
            <a:r>
              <a:rPr lang="de-DE" sz="2000" b="1" dirty="0" smtClean="0">
                <a:solidFill>
                  <a:srgbClr val="000080"/>
                </a:solidFill>
                <a:latin typeface="Times New Roman"/>
                <a:ea typeface="Times New Roman"/>
              </a:rPr>
              <a:t>Struktogramm</a:t>
            </a:r>
            <a:r>
              <a:rPr lang="de-DE" sz="2000" dirty="0" smtClean="0"/>
              <a:t> nach </a:t>
            </a:r>
            <a:r>
              <a:rPr lang="de-DE" sz="2000" dirty="0" err="1" smtClean="0"/>
              <a:t>Nassi</a:t>
            </a:r>
            <a:r>
              <a:rPr lang="de-DE" sz="2000" dirty="0" smtClean="0"/>
              <a:t> und </a:t>
            </a:r>
            <a:r>
              <a:rPr lang="de-DE" sz="2000" dirty="0" err="1" smtClean="0"/>
              <a:t>Shneiderman</a:t>
            </a:r>
            <a:endParaRPr lang="de-DE" sz="2000" dirty="0" smtClean="0"/>
          </a:p>
          <a:p>
            <a:r>
              <a:rPr lang="de-DE" sz="2000" dirty="0" smtClean="0"/>
              <a:t>	nach </a:t>
            </a:r>
            <a:r>
              <a:rPr lang="de-DE" sz="2000" dirty="0"/>
              <a:t>DIN 66261 </a:t>
            </a:r>
          </a:p>
          <a:p>
            <a:endParaRPr lang="de-DE" sz="2000" dirty="0" smtClean="0">
              <a:latin typeface="Times New Roman"/>
              <a:ea typeface="Times New Roman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87944" y="3861048"/>
            <a:ext cx="9361040" cy="1656184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Beide repräsentieren eine sogenannte </a:t>
            </a:r>
            <a:r>
              <a:rPr lang="de-DE" sz="2000" b="1" dirty="0">
                <a:solidFill>
                  <a:srgbClr val="000080"/>
                </a:solidFill>
                <a:latin typeface="Times New Roman"/>
                <a:ea typeface="Times New Roman"/>
              </a:rPr>
              <a:t>Syntax</a:t>
            </a:r>
            <a:r>
              <a:rPr lang="de-DE" sz="2000" dirty="0"/>
              <a:t>, die </a:t>
            </a:r>
            <a:r>
              <a:rPr lang="de-DE" sz="2000" dirty="0" smtClean="0"/>
              <a:t>die Ausdrucksformen </a:t>
            </a:r>
            <a:r>
              <a:rPr lang="de-DE" sz="2000" dirty="0"/>
              <a:t>der Beschreibung formal spezifiziert</a:t>
            </a:r>
            <a:r>
              <a:rPr lang="de-DE" sz="2000" dirty="0" smtClean="0"/>
              <a:t>.</a:t>
            </a:r>
          </a:p>
          <a:p>
            <a:endParaRPr lang="de-DE" sz="2000" dirty="0"/>
          </a:p>
          <a:p>
            <a:r>
              <a:rPr lang="de-DE" sz="2000" dirty="0"/>
              <a:t>Die Bedeutung der Darstellung wird als </a:t>
            </a:r>
            <a:r>
              <a:rPr lang="de-DE" sz="2000" b="1" dirty="0">
                <a:solidFill>
                  <a:srgbClr val="000080"/>
                </a:solidFill>
                <a:latin typeface="Times New Roman"/>
                <a:ea typeface="Times New Roman"/>
              </a:rPr>
              <a:t>Semantik</a:t>
            </a:r>
            <a:r>
              <a:rPr lang="de-DE" sz="2000" dirty="0"/>
              <a:t> bezeichnet.</a:t>
            </a:r>
            <a:endParaRPr lang="de-DE" sz="20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770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Algorithmus als Programmablaufplan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20" y="980728"/>
            <a:ext cx="8280920" cy="4944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3456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Algorithmus als Struktogramm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744" y="836712"/>
            <a:ext cx="4968552" cy="5573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3466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Lineare </a:t>
            </a:r>
            <a:r>
              <a:rPr lang="de-DE" dirty="0" smtClean="0"/>
              <a:t>Strukturen, Sequenzen </a:t>
            </a:r>
            <a:endParaRPr lang="de-DE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2"/>
            <a:ext cx="9361040" cy="1296144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Jede </a:t>
            </a:r>
            <a:r>
              <a:rPr lang="de-DE" sz="2000" dirty="0" smtClean="0"/>
              <a:t>Anweisung bzw. Sequenz </a:t>
            </a:r>
            <a:r>
              <a:rPr lang="de-DE" sz="2000" dirty="0"/>
              <a:t>wird in </a:t>
            </a:r>
            <a:r>
              <a:rPr lang="de-DE" sz="2000" dirty="0" smtClean="0"/>
              <a:t>einem rechteckigen </a:t>
            </a:r>
            <a:r>
              <a:rPr lang="de-DE" sz="2000" dirty="0"/>
              <a:t>Strukturblock geschrieben</a:t>
            </a:r>
            <a:r>
              <a:rPr lang="de-DE" sz="2000" dirty="0" smtClean="0"/>
              <a:t>. Das Wesentliche einer Sequenz besteht darin, dass sie nach außen als nur eine einzige Aktion/Anweisung repräsentiert, obwohl sie intern aus einer Folge von Anweisungen besteht. </a:t>
            </a:r>
            <a:endParaRPr lang="de-DE" sz="2000" dirty="0"/>
          </a:p>
          <a:p>
            <a:endParaRPr lang="de-DE" sz="2000" dirty="0"/>
          </a:p>
          <a:p>
            <a:endParaRPr lang="de-DE" sz="2000" dirty="0" smtClean="0">
              <a:latin typeface="Times New Roman"/>
              <a:ea typeface="Times New Roman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00472" y="3068959"/>
            <a:ext cx="439248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174886" y="3068960"/>
            <a:ext cx="437409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00472" y="2564904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/>
              <a:t>Struktogramm</a:t>
            </a:r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169024" y="2564904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 smtClean="0"/>
              <a:t>Programmablaufplan</a:t>
            </a:r>
            <a:endParaRPr lang="de-DE" sz="20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305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 animBg="1"/>
      <p:bldP spid="8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Verzweigung, einseitige </a:t>
            </a:r>
            <a:r>
              <a:rPr lang="de-DE" dirty="0"/>
              <a:t>Selektion</a:t>
            </a:r>
            <a:r>
              <a:rPr lang="de-DE" dirty="0" smtClean="0"/>
              <a:t> </a:t>
            </a:r>
            <a:endParaRPr lang="de-DE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2"/>
            <a:ext cx="9361040" cy="1296144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Die einseitige </a:t>
            </a:r>
            <a:r>
              <a:rPr lang="de-DE" sz="2000" dirty="0" smtClean="0"/>
              <a:t>Verzweigung bzw. Selektion </a:t>
            </a:r>
            <a:r>
              <a:rPr lang="de-DE" sz="2000" dirty="0"/>
              <a:t>gestattet die Ausführung </a:t>
            </a:r>
            <a:r>
              <a:rPr lang="de-DE" sz="2000" dirty="0" smtClean="0"/>
              <a:t>einer Anweisung (</a:t>
            </a:r>
            <a:r>
              <a:rPr lang="de-DE" sz="2000" dirty="0"/>
              <a:t>welche wiederum eine Sequenz sein kann</a:t>
            </a:r>
            <a:r>
              <a:rPr lang="de-DE" sz="2000" dirty="0" smtClean="0"/>
              <a:t>), wenn </a:t>
            </a:r>
            <a:r>
              <a:rPr lang="de-DE" sz="2000" dirty="0"/>
              <a:t>die angegebene Bedingung wahr (ja) ist</a:t>
            </a:r>
            <a:r>
              <a:rPr lang="de-DE" sz="2000" dirty="0" smtClean="0"/>
              <a:t>.</a:t>
            </a:r>
            <a:endParaRPr lang="de-DE" sz="2000" dirty="0"/>
          </a:p>
          <a:p>
            <a:endParaRPr lang="de-DE" sz="2000" dirty="0"/>
          </a:p>
          <a:p>
            <a:endParaRPr lang="de-DE" sz="2000" dirty="0" smtClean="0">
              <a:latin typeface="Times New Roman"/>
              <a:ea typeface="Times New Roman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00472" y="3068959"/>
            <a:ext cx="439248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174886" y="3068960"/>
            <a:ext cx="437409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00472" y="2564904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/>
              <a:t>Struktogramm</a:t>
            </a:r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169024" y="2564904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 smtClean="0"/>
              <a:t>Programmablaufplan</a:t>
            </a:r>
            <a:endParaRPr lang="de-DE" sz="20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39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 animBg="1"/>
      <p:bldP spid="8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Verzweigung, zweiseitige </a:t>
            </a:r>
            <a:r>
              <a:rPr lang="de-DE" dirty="0"/>
              <a:t>Selektion</a:t>
            </a:r>
            <a:r>
              <a:rPr lang="de-DE" dirty="0" smtClean="0"/>
              <a:t> </a:t>
            </a:r>
            <a:endParaRPr lang="de-DE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2"/>
            <a:ext cx="9361040" cy="1728192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Die zweiseitige </a:t>
            </a:r>
            <a:r>
              <a:rPr lang="de-DE" sz="2000" dirty="0" smtClean="0"/>
              <a:t>Verzweigung bzw. Selektion </a:t>
            </a:r>
            <a:r>
              <a:rPr lang="de-DE" sz="2000" dirty="0"/>
              <a:t>gestattet die Auswahl einer </a:t>
            </a:r>
            <a:r>
              <a:rPr lang="de-DE" sz="2000" dirty="0" smtClean="0"/>
              <a:t>Anweisung (</a:t>
            </a:r>
            <a:r>
              <a:rPr lang="de-DE" sz="2000" dirty="0"/>
              <a:t>welche wiederum eine Sequenz sein kann) aus </a:t>
            </a:r>
            <a:r>
              <a:rPr lang="de-DE" sz="2000" dirty="0" smtClean="0"/>
              <a:t>zwei angegebenen </a:t>
            </a:r>
            <a:r>
              <a:rPr lang="de-DE" sz="2000" dirty="0"/>
              <a:t>Sequenzen </a:t>
            </a:r>
            <a:r>
              <a:rPr lang="de-DE" sz="2000" b="1" i="1" dirty="0"/>
              <a:t>Anw_1</a:t>
            </a:r>
            <a:r>
              <a:rPr lang="de-DE" sz="2000" i="1" dirty="0"/>
              <a:t> </a:t>
            </a:r>
            <a:r>
              <a:rPr lang="de-DE" sz="2000" dirty="0"/>
              <a:t>bzw. </a:t>
            </a:r>
            <a:r>
              <a:rPr lang="de-DE" sz="2000" b="1" i="1" dirty="0"/>
              <a:t>Anw_2</a:t>
            </a:r>
            <a:r>
              <a:rPr lang="de-DE" sz="2000" dirty="0"/>
              <a:t>.</a:t>
            </a:r>
          </a:p>
          <a:p>
            <a:r>
              <a:rPr lang="de-DE" sz="2000" dirty="0"/>
              <a:t>Wenn eine Bedingung zutrifft wird der </a:t>
            </a:r>
            <a:r>
              <a:rPr lang="de-DE" sz="2000" dirty="0" smtClean="0"/>
              <a:t>ja- Block </a:t>
            </a:r>
            <a:r>
              <a:rPr lang="de-DE" sz="2000" dirty="0"/>
              <a:t>ausgeführt, wenn nicht, wird der</a:t>
            </a:r>
          </a:p>
          <a:p>
            <a:r>
              <a:rPr lang="de-DE" sz="2000" dirty="0"/>
              <a:t>nein-Block ausgeführt. Die beiden </a:t>
            </a:r>
            <a:r>
              <a:rPr lang="de-DE" sz="2000" dirty="0" smtClean="0"/>
              <a:t>Blöcke können </a:t>
            </a:r>
            <a:r>
              <a:rPr lang="de-DE" sz="2000" dirty="0"/>
              <a:t>aus mehreren </a:t>
            </a:r>
            <a:r>
              <a:rPr lang="de-DE" sz="2000" dirty="0" smtClean="0"/>
              <a:t>Sequenzen bestehen.</a:t>
            </a:r>
            <a:endParaRPr lang="de-DE" sz="2000" dirty="0"/>
          </a:p>
          <a:p>
            <a:endParaRPr lang="de-DE" sz="2000" dirty="0"/>
          </a:p>
          <a:p>
            <a:endParaRPr lang="de-DE" sz="2000" dirty="0" smtClean="0">
              <a:latin typeface="Times New Roman"/>
              <a:ea typeface="Times New Roman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00472" y="3284984"/>
            <a:ext cx="439248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174886" y="3284985"/>
            <a:ext cx="437409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00472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/>
              <a:t>Struktogramm</a:t>
            </a:r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169024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 smtClean="0"/>
              <a:t>Programmablaufplan</a:t>
            </a:r>
            <a:endParaRPr lang="de-DE" sz="20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273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 animBg="1"/>
      <p:bldP spid="8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Fallauswahl, mehrfache </a:t>
            </a:r>
            <a:r>
              <a:rPr lang="de-DE" dirty="0"/>
              <a:t>Selektion </a:t>
            </a:r>
            <a:r>
              <a:rPr lang="de-DE" dirty="0" smtClean="0"/>
              <a:t>ohne </a:t>
            </a:r>
            <a:r>
              <a:rPr lang="de-DE" dirty="0"/>
              <a:t>Sonst- Zweig</a:t>
            </a:r>
            <a:r>
              <a:rPr lang="de-DE" dirty="0" smtClean="0"/>
              <a:t> </a:t>
            </a:r>
            <a:endParaRPr lang="de-DE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2"/>
            <a:ext cx="9361040" cy="1440160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Der Fallausdruck kann einfache Werte repräsentieren, z.B</a:t>
            </a:r>
            <a:r>
              <a:rPr lang="de-DE" sz="2000" dirty="0" smtClean="0"/>
              <a:t>. ganzzahlige </a:t>
            </a:r>
            <a:r>
              <a:rPr lang="de-DE" sz="2000" dirty="0"/>
              <a:t>oder dezimale Werte, ein Zeichen, </a:t>
            </a:r>
            <a:r>
              <a:rPr lang="de-DE" sz="2000" dirty="0" smtClean="0"/>
              <a:t>eine Zeichenkette</a:t>
            </a:r>
            <a:r>
              <a:rPr lang="de-DE" sz="2000" dirty="0"/>
              <a:t>. Für alle zu behandelnden Fälle wird eine</a:t>
            </a:r>
          </a:p>
          <a:p>
            <a:r>
              <a:rPr lang="de-DE" sz="2000" dirty="0"/>
              <a:t>entsprechende Konstante als </a:t>
            </a:r>
            <a:r>
              <a:rPr lang="de-DE" sz="2000" b="1" i="1" dirty="0"/>
              <a:t>Wert 1, Wert 2</a:t>
            </a:r>
            <a:r>
              <a:rPr lang="de-DE" sz="2000" i="1" dirty="0"/>
              <a:t> </a:t>
            </a:r>
            <a:r>
              <a:rPr lang="de-DE" sz="2000" dirty="0"/>
              <a:t>usw. angegeben</a:t>
            </a:r>
            <a:r>
              <a:rPr lang="de-DE" sz="2000" dirty="0" smtClean="0"/>
              <a:t>. Entsprechend </a:t>
            </a:r>
            <a:r>
              <a:rPr lang="de-DE" sz="2000" dirty="0"/>
              <a:t>dem zutreffenden Wert wird eine </a:t>
            </a:r>
            <a:r>
              <a:rPr lang="de-DE" sz="2000" dirty="0" smtClean="0"/>
              <a:t>angegebene Anweisung </a:t>
            </a:r>
            <a:r>
              <a:rPr lang="de-DE" sz="2000" dirty="0"/>
              <a:t>ausgeführt, also </a:t>
            </a:r>
            <a:r>
              <a:rPr lang="de-DE" sz="2000" b="1" i="1" dirty="0"/>
              <a:t>Anw_1 oder </a:t>
            </a:r>
            <a:r>
              <a:rPr lang="de-DE" sz="2000" b="1" i="1" dirty="0" smtClean="0"/>
              <a:t>Anw_2</a:t>
            </a:r>
            <a:r>
              <a:rPr lang="de-DE" sz="2000" i="1" dirty="0" smtClean="0"/>
              <a:t>. </a:t>
            </a:r>
            <a:endParaRPr lang="de-DE" sz="2000" dirty="0" smtClean="0"/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00472" y="3284984"/>
            <a:ext cx="439248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174886" y="3284985"/>
            <a:ext cx="437409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 smtClean="0">
              <a:latin typeface="Times New Roman"/>
              <a:ea typeface="Times New Roman"/>
            </a:endParaRPr>
          </a:p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00472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/>
              <a:t>Struktogramm</a:t>
            </a:r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169024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 smtClean="0"/>
              <a:t>Programmablaufplan</a:t>
            </a:r>
            <a:endParaRPr lang="de-DE" sz="20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716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 animBg="1"/>
      <p:bldP spid="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Fallauswahl, mehrfache </a:t>
            </a:r>
            <a:r>
              <a:rPr lang="de-DE" dirty="0"/>
              <a:t>Selektion </a:t>
            </a:r>
            <a:r>
              <a:rPr lang="de-DE" dirty="0" smtClean="0"/>
              <a:t>mit </a:t>
            </a:r>
            <a:r>
              <a:rPr lang="de-DE" dirty="0"/>
              <a:t>Sonst- Zweig</a:t>
            </a:r>
            <a:r>
              <a:rPr lang="de-DE" dirty="0" smtClean="0"/>
              <a:t> </a:t>
            </a:r>
            <a:endParaRPr lang="de-DE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2"/>
            <a:ext cx="9361040" cy="1440160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Die Semantik entspricht im Prinzip der mehrfachen </a:t>
            </a:r>
            <a:r>
              <a:rPr lang="de-DE" sz="2000" dirty="0" smtClean="0"/>
              <a:t>Selektion ohne </a:t>
            </a:r>
            <a:r>
              <a:rPr lang="de-DE" sz="2000" dirty="0"/>
              <a:t>Sonst-Zweig mit der Erweiterung, dass wenn </a:t>
            </a:r>
            <a:r>
              <a:rPr lang="de-DE" sz="2000" dirty="0" smtClean="0"/>
              <a:t>der Fallausdruck </a:t>
            </a:r>
            <a:r>
              <a:rPr lang="de-DE" sz="2000" dirty="0"/>
              <a:t>keinen der angegebenen Werte </a:t>
            </a:r>
            <a:r>
              <a:rPr lang="de-DE" sz="2000" b="1" i="1" dirty="0"/>
              <a:t>Wert 1</a:t>
            </a:r>
            <a:r>
              <a:rPr lang="de-DE" sz="2000" b="1" dirty="0"/>
              <a:t>, </a:t>
            </a:r>
            <a:r>
              <a:rPr lang="de-DE" sz="2000" b="1" i="1" dirty="0"/>
              <a:t>Wert 2</a:t>
            </a:r>
            <a:r>
              <a:rPr lang="de-DE" sz="2000" b="1" dirty="0"/>
              <a:t>, </a:t>
            </a:r>
            <a:r>
              <a:rPr lang="de-DE" sz="2000" b="1" dirty="0" smtClean="0"/>
              <a:t>... , </a:t>
            </a:r>
            <a:r>
              <a:rPr lang="de-DE" sz="2000" b="1" i="1" dirty="0" err="1" smtClean="0"/>
              <a:t>WertN</a:t>
            </a:r>
            <a:r>
              <a:rPr lang="de-DE" sz="2000" dirty="0" smtClean="0"/>
              <a:t> repräsentiert</a:t>
            </a:r>
            <a:r>
              <a:rPr lang="de-DE" sz="2000" dirty="0"/>
              <a:t>, wird dann die Anweisung </a:t>
            </a:r>
            <a:r>
              <a:rPr lang="de-DE" sz="2000" b="1" i="1" dirty="0"/>
              <a:t>Anw_0</a:t>
            </a:r>
            <a:r>
              <a:rPr lang="de-DE" sz="2000" i="1" dirty="0"/>
              <a:t> </a:t>
            </a:r>
            <a:r>
              <a:rPr lang="de-DE" sz="2000" dirty="0"/>
              <a:t>ausgeführt</a:t>
            </a:r>
            <a:r>
              <a:rPr lang="de-DE" sz="2000" dirty="0" smtClean="0"/>
              <a:t>.</a:t>
            </a:r>
            <a:r>
              <a:rPr lang="de-DE" sz="2000" i="1" dirty="0" smtClean="0"/>
              <a:t> </a:t>
            </a:r>
            <a:endParaRPr lang="de-DE" sz="2000" dirty="0" smtClean="0"/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00472" y="3284984"/>
            <a:ext cx="439248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174886" y="3284985"/>
            <a:ext cx="437409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 smtClean="0">
              <a:latin typeface="Times New Roman"/>
              <a:ea typeface="Times New Roman"/>
            </a:endParaRPr>
          </a:p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00472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/>
              <a:t>Struktogramm</a:t>
            </a:r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169024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 smtClean="0"/>
              <a:t>Programmablaufplan</a:t>
            </a:r>
            <a:endParaRPr lang="de-DE" sz="20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550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 animBg="1"/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Kopfgesteuerte </a:t>
            </a:r>
            <a:r>
              <a:rPr lang="de-DE" dirty="0" smtClean="0"/>
              <a:t>Schleife, </a:t>
            </a:r>
            <a:r>
              <a:rPr lang="de-DE" dirty="0"/>
              <a:t>Zyklus abweisend</a:t>
            </a:r>
            <a:r>
              <a:rPr lang="de-DE" dirty="0" smtClean="0"/>
              <a:t> </a:t>
            </a:r>
            <a:endParaRPr lang="de-DE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2"/>
            <a:ext cx="9361040" cy="1728192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Die Ausführung einer Anweisung </a:t>
            </a:r>
            <a:r>
              <a:rPr lang="de-DE" sz="2000" b="1" i="1" dirty="0" err="1"/>
              <a:t>Anw</a:t>
            </a:r>
            <a:r>
              <a:rPr lang="de-DE" sz="2000" i="1" dirty="0"/>
              <a:t> </a:t>
            </a:r>
            <a:r>
              <a:rPr lang="de-DE" sz="2000" dirty="0"/>
              <a:t>(welche wiederum </a:t>
            </a:r>
            <a:r>
              <a:rPr lang="de-DE" sz="2000" dirty="0" smtClean="0"/>
              <a:t>eine Sequenz </a:t>
            </a:r>
            <a:r>
              <a:rPr lang="de-DE" sz="2000" dirty="0"/>
              <a:t>sein kann), wird solange wiederholt ausgeführt</a:t>
            </a:r>
            <a:r>
              <a:rPr lang="de-DE" sz="2000" dirty="0" smtClean="0"/>
              <a:t>, solange </a:t>
            </a:r>
            <a:r>
              <a:rPr lang="de-DE" sz="2000" dirty="0"/>
              <a:t>die angegebene Bedingung wahr (ja) ist. </a:t>
            </a:r>
            <a:r>
              <a:rPr lang="de-DE" sz="2000" dirty="0" smtClean="0"/>
              <a:t>Abweisend bedeutet</a:t>
            </a:r>
            <a:r>
              <a:rPr lang="de-DE" sz="2000" dirty="0"/>
              <a:t>, dass wenn die Bedingung bei Eintritt bereits falsch</a:t>
            </a:r>
          </a:p>
          <a:p>
            <a:r>
              <a:rPr lang="de-DE" sz="2000" dirty="0"/>
              <a:t>ist, wird </a:t>
            </a:r>
            <a:r>
              <a:rPr lang="de-DE" sz="2000" b="1" i="1" dirty="0" err="1"/>
              <a:t>Anw</a:t>
            </a:r>
            <a:r>
              <a:rPr lang="de-DE" sz="2000" dirty="0"/>
              <a:t> überhaupt nicht ausgeführt.</a:t>
            </a:r>
          </a:p>
          <a:p>
            <a:endParaRPr lang="de-DE" sz="2000" dirty="0" smtClean="0">
              <a:latin typeface="Times New Roman"/>
              <a:ea typeface="Times New Roman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00472" y="3284984"/>
            <a:ext cx="439248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174886" y="3284985"/>
            <a:ext cx="437409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00472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/>
              <a:t>Struktogramm</a:t>
            </a:r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169024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 smtClean="0"/>
              <a:t>Programmablaufplan</a:t>
            </a:r>
            <a:endParaRPr lang="de-DE" sz="20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562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Fußgesteuerte Schleife, </a:t>
            </a:r>
            <a:r>
              <a:rPr lang="de-DE" dirty="0"/>
              <a:t>Zyklus </a:t>
            </a:r>
            <a:r>
              <a:rPr lang="de-DE" dirty="0" smtClean="0"/>
              <a:t>nicht abweisend </a:t>
            </a:r>
            <a:endParaRPr lang="de-DE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2"/>
            <a:ext cx="9361040" cy="1728192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Die Ausführung des Zyklus beginnt mit der Ausführung der </a:t>
            </a:r>
            <a:r>
              <a:rPr lang="de-DE" sz="2000" dirty="0" smtClean="0"/>
              <a:t>Anweisung </a:t>
            </a:r>
            <a:r>
              <a:rPr lang="de-DE" sz="2000" b="1" i="1" dirty="0" err="1" smtClean="0"/>
              <a:t>Anw</a:t>
            </a:r>
            <a:r>
              <a:rPr lang="de-DE" sz="2000" dirty="0" smtClean="0"/>
              <a:t> </a:t>
            </a:r>
            <a:r>
              <a:rPr lang="de-DE" sz="2000" dirty="0"/>
              <a:t>(welche wiederum eine Sequenz sein kann), ohne Prüfung </a:t>
            </a:r>
            <a:r>
              <a:rPr lang="de-DE" sz="2000" dirty="0" smtClean="0"/>
              <a:t>der Bedingung </a:t>
            </a:r>
            <a:r>
              <a:rPr lang="de-DE" sz="2000" dirty="0"/>
              <a:t>(deshalb „</a:t>
            </a:r>
            <a:r>
              <a:rPr lang="de-DE" sz="2000" b="1" dirty="0"/>
              <a:t>nicht </a:t>
            </a:r>
            <a:r>
              <a:rPr lang="de-DE" sz="2000" dirty="0"/>
              <a:t>abweisend“). Erst nach der Ausführung </a:t>
            </a:r>
            <a:r>
              <a:rPr lang="de-DE" sz="2000" dirty="0" smtClean="0"/>
              <a:t>von </a:t>
            </a:r>
            <a:r>
              <a:rPr lang="de-DE" sz="2000" b="1" i="1" dirty="0" err="1" smtClean="0"/>
              <a:t>Anw</a:t>
            </a:r>
            <a:r>
              <a:rPr lang="de-DE" sz="2000" i="1" dirty="0" smtClean="0"/>
              <a:t> </a:t>
            </a:r>
            <a:r>
              <a:rPr lang="de-DE" sz="2000" dirty="0"/>
              <a:t>wird die angegebene Bedingung geprüft. Ist die Bedingung </a:t>
            </a:r>
            <a:r>
              <a:rPr lang="de-DE" sz="2000" b="1" i="1" dirty="0"/>
              <a:t>wahr</a:t>
            </a:r>
            <a:r>
              <a:rPr lang="de-DE" sz="2000" dirty="0" smtClean="0"/>
              <a:t>, wird </a:t>
            </a:r>
            <a:r>
              <a:rPr lang="de-DE" sz="2000" dirty="0"/>
              <a:t>die Anweisung </a:t>
            </a:r>
            <a:r>
              <a:rPr lang="de-DE" sz="2000" b="1" i="1" dirty="0" err="1"/>
              <a:t>Anw</a:t>
            </a:r>
            <a:r>
              <a:rPr lang="de-DE" sz="2000" dirty="0"/>
              <a:t> wieder ausgeführt. Das wird wiederholt</a:t>
            </a:r>
            <a:r>
              <a:rPr lang="de-DE" sz="2000" dirty="0" smtClean="0"/>
              <a:t>, solange </a:t>
            </a:r>
            <a:r>
              <a:rPr lang="de-DE" sz="2000" dirty="0"/>
              <a:t>die angegebene Bedingung </a:t>
            </a:r>
            <a:r>
              <a:rPr lang="de-DE" sz="2000" b="1" i="1" dirty="0"/>
              <a:t>wahr (ja)</a:t>
            </a:r>
            <a:r>
              <a:rPr lang="de-DE" sz="2000" dirty="0"/>
              <a:t> ist.</a:t>
            </a:r>
            <a:endParaRPr lang="de-DE" sz="2000" dirty="0" smtClean="0">
              <a:latin typeface="Times New Roman"/>
              <a:ea typeface="Times New Roman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00472" y="3284984"/>
            <a:ext cx="439248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174886" y="3284985"/>
            <a:ext cx="437409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00472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/>
              <a:t>Struktogramm</a:t>
            </a:r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169024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 smtClean="0"/>
              <a:t>Programmablaufplan</a:t>
            </a:r>
            <a:endParaRPr lang="de-DE" sz="2000" dirty="0">
              <a:latin typeface="Times New Roman"/>
              <a:ea typeface="Times New Roman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3715097"/>
            <a:ext cx="406717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654" y="3683676"/>
            <a:ext cx="3736826" cy="2323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22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 animBg="1"/>
      <p:bldP spid="8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Zählergesteuerte</a:t>
            </a:r>
            <a:r>
              <a:rPr lang="de-DE" dirty="0" smtClean="0"/>
              <a:t> Schleife, Zähl - Zyklus</a:t>
            </a:r>
            <a:endParaRPr lang="de-DE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1"/>
            <a:ext cx="9361040" cy="144016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Die Anweisung </a:t>
            </a:r>
            <a:r>
              <a:rPr lang="de-DE" sz="2000" b="1" i="1" dirty="0" err="1"/>
              <a:t>Anw</a:t>
            </a:r>
            <a:r>
              <a:rPr lang="de-DE" sz="2000" i="1" dirty="0"/>
              <a:t> </a:t>
            </a:r>
            <a:r>
              <a:rPr lang="de-DE" sz="2000" dirty="0"/>
              <a:t>erfährt eine bestimmte Anzahl von Wiederholungen,</a:t>
            </a:r>
          </a:p>
          <a:p>
            <a:r>
              <a:rPr lang="de-DE" sz="2000" dirty="0"/>
              <a:t>die sich aus den Größen </a:t>
            </a:r>
            <a:r>
              <a:rPr lang="de-DE" sz="2000" b="1" i="1" dirty="0" err="1"/>
              <a:t>awert</a:t>
            </a:r>
            <a:r>
              <a:rPr lang="de-DE" sz="2000" dirty="0"/>
              <a:t>, </a:t>
            </a:r>
            <a:r>
              <a:rPr lang="de-DE" sz="2000" b="1" i="1" dirty="0"/>
              <a:t>s</a:t>
            </a:r>
            <a:r>
              <a:rPr lang="de-DE" sz="2000" dirty="0"/>
              <a:t> und </a:t>
            </a:r>
            <a:r>
              <a:rPr lang="de-DE" sz="2000" b="1" i="1" dirty="0" err="1"/>
              <a:t>ewert</a:t>
            </a:r>
            <a:r>
              <a:rPr lang="de-DE" sz="2000" dirty="0"/>
              <a:t> ergibt</a:t>
            </a:r>
            <a:r>
              <a:rPr lang="de-DE" sz="2000" dirty="0" smtClean="0"/>
              <a:t>.</a:t>
            </a:r>
            <a:endParaRPr lang="de-DE" sz="2000" dirty="0"/>
          </a:p>
          <a:p>
            <a:r>
              <a:rPr lang="de-DE" sz="2000" b="1" i="1" dirty="0" err="1"/>
              <a:t>Lv</a:t>
            </a:r>
            <a:r>
              <a:rPr lang="de-DE" sz="2000" b="1" dirty="0"/>
              <a:t> </a:t>
            </a:r>
            <a:r>
              <a:rPr lang="de-DE" sz="2000" dirty="0"/>
              <a:t>die ist sogenannte </a:t>
            </a:r>
            <a:r>
              <a:rPr lang="de-DE" sz="2000" dirty="0" smtClean="0"/>
              <a:t>Laufvariable  </a:t>
            </a:r>
            <a:r>
              <a:rPr lang="de-DE" sz="2000" b="1" dirty="0" err="1"/>
              <a:t>awert</a:t>
            </a:r>
            <a:r>
              <a:rPr lang="de-DE" sz="2000" b="1" dirty="0"/>
              <a:t> </a:t>
            </a:r>
            <a:r>
              <a:rPr lang="de-DE" sz="2000" dirty="0"/>
              <a:t>ist der Anfangswert von </a:t>
            </a:r>
            <a:r>
              <a:rPr lang="de-DE" sz="2000" b="1" i="1" dirty="0" err="1"/>
              <a:t>Lv</a:t>
            </a:r>
            <a:endParaRPr lang="de-DE" sz="2000" b="1" i="1" dirty="0"/>
          </a:p>
          <a:p>
            <a:r>
              <a:rPr lang="de-DE" sz="2000" b="1" i="1" dirty="0" smtClean="0"/>
              <a:t>s</a:t>
            </a:r>
            <a:r>
              <a:rPr lang="de-DE" sz="2000" b="1" dirty="0" smtClean="0"/>
              <a:t> </a:t>
            </a:r>
            <a:r>
              <a:rPr lang="de-DE" sz="2000" dirty="0"/>
              <a:t>ist die </a:t>
            </a:r>
            <a:r>
              <a:rPr lang="de-DE" sz="2000" dirty="0" smtClean="0"/>
              <a:t>Schrittweite und  </a:t>
            </a:r>
            <a:r>
              <a:rPr lang="de-DE" sz="2000" b="1" i="1" dirty="0" err="1" smtClean="0"/>
              <a:t>ewert</a:t>
            </a:r>
            <a:r>
              <a:rPr lang="de-DE" sz="2000" b="1" dirty="0" smtClean="0"/>
              <a:t> </a:t>
            </a:r>
            <a:r>
              <a:rPr lang="de-DE" sz="2000" dirty="0"/>
              <a:t>ist der Endwert von </a:t>
            </a:r>
            <a:r>
              <a:rPr lang="de-DE" sz="2000" b="1" i="1" dirty="0" err="1"/>
              <a:t>Lv</a:t>
            </a:r>
            <a:endParaRPr lang="de-DE" sz="2000" b="1" i="1" dirty="0" smtClean="0">
              <a:latin typeface="Times New Roman"/>
              <a:ea typeface="Times New Roman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00472" y="3284984"/>
            <a:ext cx="439248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174886" y="3284985"/>
            <a:ext cx="437409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00472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/>
              <a:t>Struktogramm</a:t>
            </a:r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169024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 smtClean="0"/>
              <a:t>Programmablaufplan</a:t>
            </a:r>
            <a:endParaRPr lang="de-DE" sz="2000" dirty="0">
              <a:latin typeface="Times New Roman"/>
              <a:ea typeface="Times New Roman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3643089"/>
            <a:ext cx="405765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323" y="3415269"/>
            <a:ext cx="3237889" cy="29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741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 animBg="1"/>
      <p:bldP spid="8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Prozedur - Deklaration</a:t>
            </a:r>
            <a:endParaRPr lang="de-DE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1"/>
            <a:ext cx="9361040" cy="144016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Funktion ist der Name </a:t>
            </a:r>
            <a:r>
              <a:rPr lang="de-DE" sz="2000" dirty="0" smtClean="0"/>
              <a:t>eines Teilalgorithmus</a:t>
            </a:r>
            <a:r>
              <a:rPr lang="de-DE" sz="2000" dirty="0"/>
              <a:t>. Alle Größen, die </a:t>
            </a:r>
            <a:r>
              <a:rPr lang="de-DE" sz="2000" dirty="0" smtClean="0"/>
              <a:t>der Algorithmus </a:t>
            </a:r>
            <a:r>
              <a:rPr lang="de-DE" sz="2000" dirty="0"/>
              <a:t>aus der Umgebung </a:t>
            </a:r>
            <a:r>
              <a:rPr lang="de-DE" sz="2000" dirty="0" smtClean="0"/>
              <a:t>zur Abarbeitung </a:t>
            </a:r>
            <a:r>
              <a:rPr lang="de-DE" sz="2000" dirty="0"/>
              <a:t>benötigt, müssen in </a:t>
            </a:r>
            <a:r>
              <a:rPr lang="de-DE" sz="2000" dirty="0" smtClean="0"/>
              <a:t>der </a:t>
            </a:r>
            <a:r>
              <a:rPr lang="de-DE" sz="2000" dirty="0"/>
              <a:t>Parameterliste definiert </a:t>
            </a:r>
            <a:r>
              <a:rPr lang="de-DE" sz="2000" dirty="0" smtClean="0"/>
              <a:t>sein. </a:t>
            </a:r>
          </a:p>
          <a:p>
            <a:r>
              <a:rPr lang="de-DE" sz="2000" dirty="0" smtClean="0"/>
              <a:t>In </a:t>
            </a:r>
            <a:r>
              <a:rPr lang="de-DE" sz="2000" dirty="0"/>
              <a:t>der Parameterliste müssen Eingangs- und </a:t>
            </a:r>
            <a:r>
              <a:rPr lang="de-DE" sz="2000" dirty="0" smtClean="0"/>
              <a:t>Ausgangsgrößen unterschieden </a:t>
            </a:r>
            <a:r>
              <a:rPr lang="de-DE" sz="2000" dirty="0"/>
              <a:t>werden.</a:t>
            </a:r>
            <a:endParaRPr lang="de-DE" sz="2000" b="1" i="1" dirty="0" smtClean="0">
              <a:latin typeface="Times New Roman"/>
              <a:ea typeface="Times New Roman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00472" y="3284984"/>
            <a:ext cx="439248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174886" y="3284985"/>
            <a:ext cx="437409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00472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/>
              <a:t>Struktogramm</a:t>
            </a:r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169024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 smtClean="0"/>
              <a:t>Programmablaufplan</a:t>
            </a:r>
            <a:endParaRPr lang="de-DE" sz="2000" dirty="0">
              <a:latin typeface="Times New Roman"/>
              <a:ea typeface="Times New Roman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28" y="3721089"/>
            <a:ext cx="3456384" cy="2012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710" y="3345259"/>
            <a:ext cx="2946449" cy="304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779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 animBg="1"/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79819-B5C9-42BC-A9D8-7842DF72488D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Schneider A. (Sne)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Prozedur - Aufruf</a:t>
            </a:r>
            <a:endParaRPr lang="de-DE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7944" y="836711"/>
            <a:ext cx="9361040" cy="144016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sz="2000" dirty="0"/>
              <a:t>Die Argumente sind die in einer Umgebung gültigen Objekte, die </a:t>
            </a:r>
            <a:r>
              <a:rPr lang="de-DE" sz="2000" dirty="0" smtClean="0"/>
              <a:t>für Parameter </a:t>
            </a:r>
            <a:r>
              <a:rPr lang="de-DE" sz="2000" dirty="0"/>
              <a:t>beim Aufruf eingesetzt werden. Dabei müssen in </a:t>
            </a:r>
            <a:r>
              <a:rPr lang="de-DE" sz="2000" dirty="0" smtClean="0"/>
              <a:t>der Argumentliste </a:t>
            </a:r>
            <a:r>
              <a:rPr lang="de-DE" sz="2000" dirty="0"/>
              <a:t>Eingangs- und Ausgangsgrößen unterschieden werden.</a:t>
            </a:r>
            <a:endParaRPr lang="de-DE" sz="2000" b="1" i="1" dirty="0" smtClean="0">
              <a:latin typeface="Times New Roman"/>
              <a:ea typeface="Times New Roman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00472" y="3284984"/>
            <a:ext cx="439248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174886" y="3284985"/>
            <a:ext cx="4374098" cy="3168351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00472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/>
              <a:t>Struktogramm</a:t>
            </a:r>
            <a:endParaRPr lang="de-DE" sz="2000" dirty="0">
              <a:latin typeface="Times New Roman"/>
              <a:ea typeface="Times New Roman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169024" y="2780929"/>
            <a:ext cx="4392488" cy="504056"/>
          </a:xfrm>
          <a:prstGeom prst="rect">
            <a:avLst/>
          </a:prstGeom>
          <a:solidFill>
            <a:srgbClr val="EAEAEA">
              <a:alpha val="50000"/>
            </a:srgbClr>
          </a:solidFill>
          <a:ln w="22225">
            <a:solidFill>
              <a:srgbClr val="8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2000" b="1" dirty="0" smtClean="0"/>
              <a:t>Programmablaufplan</a:t>
            </a:r>
            <a:endParaRPr lang="de-DE" sz="2000" dirty="0">
              <a:latin typeface="Times New Roman"/>
              <a:ea typeface="Times New Roman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3861048"/>
            <a:ext cx="4086225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443" y="3598714"/>
            <a:ext cx="3569029" cy="256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865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 animBg="1"/>
      <p:bldP spid="8" grpId="0" animBg="1"/>
      <p:bldP spid="10" grpId="0" animBg="1"/>
    </p:bldLst>
  </p:timing>
</p:sld>
</file>

<file path=ppt/theme/theme1.xml><?xml version="1.0" encoding="utf-8"?>
<a:theme xmlns:a="http://schemas.openxmlformats.org/drawingml/2006/main" name="Folien1">
  <a:themeElements>
    <a:clrScheme name="Folien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olien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Folien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L:\HERDT-Kursdesigner\HERDT\Vorlagen\Folien1.pot</Template>
  <TotalTime>0</TotalTime>
  <Words>715</Words>
  <Application>Microsoft Office PowerPoint</Application>
  <PresentationFormat>A4-Papier (210x297 mm)</PresentationFormat>
  <Paragraphs>100</Paragraphs>
  <Slides>14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5" baseType="lpstr">
      <vt:lpstr>Folien1</vt:lpstr>
      <vt:lpstr>Formale Darstellung von Algorithmen</vt:lpstr>
      <vt:lpstr>Formale Darstellung von Algorithmen</vt:lpstr>
      <vt:lpstr>Ein Algorithmus als Programmablaufplan</vt:lpstr>
      <vt:lpstr>Ein Algorithmus als Struktogramm</vt:lpstr>
      <vt:lpstr>Lineare Strukturen, Sequenzen </vt:lpstr>
      <vt:lpstr>Verzweigung, einseitige Selektion </vt:lpstr>
      <vt:lpstr>Verzweigung, zweiseitige Selektion </vt:lpstr>
      <vt:lpstr>Fallauswahl, mehrfache Selektion ohne Sonst- Zweig </vt:lpstr>
      <vt:lpstr>Fallauswahl, mehrfache Selektion mit Sonst- Zweig </vt:lpstr>
      <vt:lpstr>Kopfgesteuerte Schleife, Zyklus abweisend </vt:lpstr>
      <vt:lpstr>Fußgesteuerte Schleife, Zyklus nicht abweisend </vt:lpstr>
      <vt:lpstr>Zählergesteuerte Schleife, Zähl - Zyklus</vt:lpstr>
      <vt:lpstr>Prozedur - Deklaration</vt:lpstr>
      <vt:lpstr>Prozedur - Aufruf</vt:lpstr>
    </vt:vector>
  </TitlesOfParts>
  <Company>Herdt Verlag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Access</dc:title>
  <dc:creator>Andreas Schneider</dc:creator>
  <cp:lastModifiedBy>Andreas Schneider</cp:lastModifiedBy>
  <cp:revision>198</cp:revision>
  <dcterms:created xsi:type="dcterms:W3CDTF">2000-08-18T09:51:53Z</dcterms:created>
  <dcterms:modified xsi:type="dcterms:W3CDTF">2026-03-02T09:06:34Z</dcterms:modified>
</cp:coreProperties>
</file>