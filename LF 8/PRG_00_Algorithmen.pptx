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58" r:id="rId6"/>
  </p:sldIdLst>
  <p:sldSz cx="9906000" cy="6858000" type="A4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 autoAdjust="0"/>
    <p:restoredTop sz="94718" autoAdjust="0"/>
  </p:normalViewPr>
  <p:slideViewPr>
    <p:cSldViewPr>
      <p:cViewPr>
        <p:scale>
          <a:sx n="90" d="100"/>
          <a:sy n="90" d="100"/>
        </p:scale>
        <p:origin x="-1392" y="-46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D10557-CAE2-4691-8F61-2485B93B7EB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CEC9DC00-14F3-444B-99F5-57D0B6B00B51}">
      <dgm:prSet phldrT="[Text]"/>
      <dgm:spPr>
        <a:xfrm>
          <a:off x="0" y="607885"/>
          <a:ext cx="1316736" cy="810514"/>
        </a:xfrm>
        <a:prstGeom prst="round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de-DE" b="1" dirty="0" smtClean="0">
              <a:solidFill>
                <a:srgbClr val="C00000"/>
              </a:solidFill>
              <a:latin typeface="Calibri"/>
              <a:ea typeface="+mn-ea"/>
              <a:cs typeface="+mn-cs"/>
            </a:rPr>
            <a:t>E</a:t>
          </a:r>
          <a:r>
            <a:rPr lang="de-DE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ingabe der Daten</a:t>
          </a:r>
          <a:endParaRPr lang="de-DE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E362DFD8-5194-4ECA-B526-C372265D60CA}" type="parTrans" cxnId="{74A1B329-DAF7-44D0-A945-E543DA8A821B}">
      <dgm:prSet/>
      <dgm:spPr/>
      <dgm:t>
        <a:bodyPr/>
        <a:lstStyle/>
        <a:p>
          <a:endParaRPr lang="de-DE"/>
        </a:p>
      </dgm:t>
    </dgm:pt>
    <dgm:pt modelId="{B99DDCF5-141A-45BA-9458-2AE898603228}" type="sibTrans" cxnId="{74A1B329-DAF7-44D0-A945-E543DA8A821B}">
      <dgm:prSet/>
      <dgm:spPr/>
      <dgm:t>
        <a:bodyPr/>
        <a:lstStyle/>
        <a:p>
          <a:endParaRPr lang="de-DE"/>
        </a:p>
      </dgm:t>
    </dgm:pt>
    <dgm:pt modelId="{B53260C0-2105-48A2-80D4-8E967EE1FC69}">
      <dgm:prSet phldrT="[Text]"/>
      <dgm:spPr>
        <a:xfrm>
          <a:off x="1536191" y="607885"/>
          <a:ext cx="1316736" cy="810514"/>
        </a:xfrm>
        <a:prstGeom prst="round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de-DE" b="1" dirty="0" smtClean="0">
              <a:solidFill>
                <a:srgbClr val="C00000"/>
              </a:solidFill>
              <a:latin typeface="Calibri"/>
              <a:ea typeface="+mn-ea"/>
              <a:cs typeface="+mn-cs"/>
            </a:rPr>
            <a:t>V</a:t>
          </a:r>
          <a:r>
            <a:rPr lang="de-DE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erarbeitung der Daten</a:t>
          </a:r>
          <a:endParaRPr lang="de-DE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0C3CCE37-17DA-4AD4-84BE-69CF0AFE5E54}" type="parTrans" cxnId="{94CDB634-AE7F-407A-9B14-0D843353D951}">
      <dgm:prSet/>
      <dgm:spPr/>
      <dgm:t>
        <a:bodyPr/>
        <a:lstStyle/>
        <a:p>
          <a:endParaRPr lang="de-DE"/>
        </a:p>
      </dgm:t>
    </dgm:pt>
    <dgm:pt modelId="{B9EE0F53-AED5-4BA6-A221-D245BDB466D5}" type="sibTrans" cxnId="{94CDB634-AE7F-407A-9B14-0D843353D951}">
      <dgm:prSet/>
      <dgm:spPr/>
      <dgm:t>
        <a:bodyPr/>
        <a:lstStyle/>
        <a:p>
          <a:endParaRPr lang="de-DE"/>
        </a:p>
      </dgm:t>
    </dgm:pt>
    <dgm:pt modelId="{2874874D-582B-43D7-B393-8E1DE218D1F3}">
      <dgm:prSet phldrT="[Text]"/>
      <dgm:spPr>
        <a:xfrm>
          <a:off x="2984601" y="621088"/>
          <a:ext cx="1316736" cy="810514"/>
        </a:xfrm>
        <a:prstGeom prst="round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de-DE" b="1" dirty="0" smtClean="0">
              <a:solidFill>
                <a:srgbClr val="C00000"/>
              </a:solidFill>
              <a:latin typeface="Calibri"/>
              <a:ea typeface="+mn-ea"/>
              <a:cs typeface="+mn-cs"/>
            </a:rPr>
            <a:t>A</a:t>
          </a:r>
          <a:r>
            <a:rPr lang="de-DE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usgabe der Daten</a:t>
          </a:r>
          <a:endParaRPr lang="de-DE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36D3C7EC-4A3E-46BF-B555-06A9C4B5C830}" type="parTrans" cxnId="{DE06C941-1FAE-43A8-B33B-27DF42D379B6}">
      <dgm:prSet/>
      <dgm:spPr/>
      <dgm:t>
        <a:bodyPr/>
        <a:lstStyle/>
        <a:p>
          <a:endParaRPr lang="de-DE"/>
        </a:p>
      </dgm:t>
    </dgm:pt>
    <dgm:pt modelId="{747CD643-4A75-4CA2-B0B7-A81FEEFE4317}" type="sibTrans" cxnId="{DE06C941-1FAE-43A8-B33B-27DF42D379B6}">
      <dgm:prSet/>
      <dgm:spPr/>
      <dgm:t>
        <a:bodyPr/>
        <a:lstStyle/>
        <a:p>
          <a:endParaRPr lang="de-DE"/>
        </a:p>
      </dgm:t>
    </dgm:pt>
    <dgm:pt modelId="{B73A5508-D3DA-49F9-BE7D-A506227BAB39}" type="pres">
      <dgm:prSet presAssocID="{31D10557-CAE2-4691-8F61-2485B93B7EBC}" presName="CompostProcess" presStyleCnt="0">
        <dgm:presLayoutVars>
          <dgm:dir/>
          <dgm:resizeHandles val="exact"/>
        </dgm:presLayoutVars>
      </dgm:prSet>
      <dgm:spPr/>
    </dgm:pt>
    <dgm:pt modelId="{A8202986-897D-407C-A1D4-55AF5EE902A6}" type="pres">
      <dgm:prSet presAssocID="{31D10557-CAE2-4691-8F61-2485B93B7EBC}" presName="arrow" presStyleLbl="bgShp" presStyleIdx="0" presStyleCnt="1"/>
      <dgm:spPr>
        <a:xfrm>
          <a:off x="329183" y="0"/>
          <a:ext cx="3730752" cy="2026285"/>
        </a:xfrm>
        <a:prstGeom prst="rightArrow">
          <a:avLst/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FF328F14-F5EC-40ED-95CD-17AC575532A8}" type="pres">
      <dgm:prSet presAssocID="{31D10557-CAE2-4691-8F61-2485B93B7EBC}" presName="linearProcess" presStyleCnt="0"/>
      <dgm:spPr/>
    </dgm:pt>
    <dgm:pt modelId="{EE12EF09-4621-4721-9898-74EBBBBD28FE}" type="pres">
      <dgm:prSet presAssocID="{CEC9DC00-14F3-444B-99F5-57D0B6B00B51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16A9FEE-301F-43A9-A295-818D5774CB13}" type="pres">
      <dgm:prSet presAssocID="{B99DDCF5-141A-45BA-9458-2AE898603228}" presName="sibTrans" presStyleCnt="0"/>
      <dgm:spPr/>
    </dgm:pt>
    <dgm:pt modelId="{C5170FB4-313F-4A31-8B62-981AAB80096F}" type="pres">
      <dgm:prSet presAssocID="{B53260C0-2105-48A2-80D4-8E967EE1FC69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427FD2C-CCCF-40D1-8349-033360BAECF7}" type="pres">
      <dgm:prSet presAssocID="{B9EE0F53-AED5-4BA6-A221-D245BDB466D5}" presName="sibTrans" presStyleCnt="0"/>
      <dgm:spPr/>
    </dgm:pt>
    <dgm:pt modelId="{04F37E0E-5D83-44F2-AF47-B055B7AACACB}" type="pres">
      <dgm:prSet presAssocID="{2874874D-582B-43D7-B393-8E1DE218D1F3}" presName="textNode" presStyleLbl="node1" presStyleIdx="2" presStyleCnt="3" custLinFactNeighborX="-40000" custLinFactNeighborY="1629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2CE430DA-7351-4961-85AF-29C0F3554605}" type="presOf" srcId="{B53260C0-2105-48A2-80D4-8E967EE1FC69}" destId="{C5170FB4-313F-4A31-8B62-981AAB80096F}" srcOrd="0" destOrd="0" presId="urn:microsoft.com/office/officeart/2005/8/layout/hProcess9"/>
    <dgm:cxn modelId="{B0D82913-2C3D-4CE7-AFC5-E6788A11CEBB}" type="presOf" srcId="{CEC9DC00-14F3-444B-99F5-57D0B6B00B51}" destId="{EE12EF09-4621-4721-9898-74EBBBBD28FE}" srcOrd="0" destOrd="0" presId="urn:microsoft.com/office/officeart/2005/8/layout/hProcess9"/>
    <dgm:cxn modelId="{94CDB634-AE7F-407A-9B14-0D843353D951}" srcId="{31D10557-CAE2-4691-8F61-2485B93B7EBC}" destId="{B53260C0-2105-48A2-80D4-8E967EE1FC69}" srcOrd="1" destOrd="0" parTransId="{0C3CCE37-17DA-4AD4-84BE-69CF0AFE5E54}" sibTransId="{B9EE0F53-AED5-4BA6-A221-D245BDB466D5}"/>
    <dgm:cxn modelId="{74A1B329-DAF7-44D0-A945-E543DA8A821B}" srcId="{31D10557-CAE2-4691-8F61-2485B93B7EBC}" destId="{CEC9DC00-14F3-444B-99F5-57D0B6B00B51}" srcOrd="0" destOrd="0" parTransId="{E362DFD8-5194-4ECA-B526-C372265D60CA}" sibTransId="{B99DDCF5-141A-45BA-9458-2AE898603228}"/>
    <dgm:cxn modelId="{AF2D8BC7-42CA-4793-A055-8C4F0A26CD93}" type="presOf" srcId="{31D10557-CAE2-4691-8F61-2485B93B7EBC}" destId="{B73A5508-D3DA-49F9-BE7D-A506227BAB39}" srcOrd="0" destOrd="0" presId="urn:microsoft.com/office/officeart/2005/8/layout/hProcess9"/>
    <dgm:cxn modelId="{DE06C941-1FAE-43A8-B33B-27DF42D379B6}" srcId="{31D10557-CAE2-4691-8F61-2485B93B7EBC}" destId="{2874874D-582B-43D7-B393-8E1DE218D1F3}" srcOrd="2" destOrd="0" parTransId="{36D3C7EC-4A3E-46BF-B555-06A9C4B5C830}" sibTransId="{747CD643-4A75-4CA2-B0B7-A81FEEFE4317}"/>
    <dgm:cxn modelId="{43FA03FE-FCF5-46C2-BC6E-0E3D8EE32F9A}" type="presOf" srcId="{2874874D-582B-43D7-B393-8E1DE218D1F3}" destId="{04F37E0E-5D83-44F2-AF47-B055B7AACACB}" srcOrd="0" destOrd="0" presId="urn:microsoft.com/office/officeart/2005/8/layout/hProcess9"/>
    <dgm:cxn modelId="{8C56BE26-310E-4239-BF88-D272BD5E420C}" type="presParOf" srcId="{B73A5508-D3DA-49F9-BE7D-A506227BAB39}" destId="{A8202986-897D-407C-A1D4-55AF5EE902A6}" srcOrd="0" destOrd="0" presId="urn:microsoft.com/office/officeart/2005/8/layout/hProcess9"/>
    <dgm:cxn modelId="{3835BF39-6DAB-4B64-9826-B94ADA34B6E4}" type="presParOf" srcId="{B73A5508-D3DA-49F9-BE7D-A506227BAB39}" destId="{FF328F14-F5EC-40ED-95CD-17AC575532A8}" srcOrd="1" destOrd="0" presId="urn:microsoft.com/office/officeart/2005/8/layout/hProcess9"/>
    <dgm:cxn modelId="{D2AF78A8-F856-41A1-A817-7CD3C4C627C8}" type="presParOf" srcId="{FF328F14-F5EC-40ED-95CD-17AC575532A8}" destId="{EE12EF09-4621-4721-9898-74EBBBBD28FE}" srcOrd="0" destOrd="0" presId="urn:microsoft.com/office/officeart/2005/8/layout/hProcess9"/>
    <dgm:cxn modelId="{D8CD24EA-A6C6-4197-8EBC-2D7273F384B5}" type="presParOf" srcId="{FF328F14-F5EC-40ED-95CD-17AC575532A8}" destId="{A16A9FEE-301F-43A9-A295-818D5774CB13}" srcOrd="1" destOrd="0" presId="urn:microsoft.com/office/officeart/2005/8/layout/hProcess9"/>
    <dgm:cxn modelId="{27F878F3-4A00-4A02-B97E-65A55EFCCD16}" type="presParOf" srcId="{FF328F14-F5EC-40ED-95CD-17AC575532A8}" destId="{C5170FB4-313F-4A31-8B62-981AAB80096F}" srcOrd="2" destOrd="0" presId="urn:microsoft.com/office/officeart/2005/8/layout/hProcess9"/>
    <dgm:cxn modelId="{65BD459E-8501-4888-B11A-748A6172B902}" type="presParOf" srcId="{FF328F14-F5EC-40ED-95CD-17AC575532A8}" destId="{C427FD2C-CCCF-40D1-8349-033360BAECF7}" srcOrd="3" destOrd="0" presId="urn:microsoft.com/office/officeart/2005/8/layout/hProcess9"/>
    <dgm:cxn modelId="{525D7695-F768-4116-B30E-8E858B20EB37}" type="presParOf" srcId="{FF328F14-F5EC-40ED-95CD-17AC575532A8}" destId="{04F37E0E-5D83-44F2-AF47-B055B7AACAC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02986-897D-407C-A1D4-55AF5EE902A6}">
      <dsp:nvSpPr>
        <dsp:cNvPr id="0" name=""/>
        <dsp:cNvSpPr/>
      </dsp:nvSpPr>
      <dsp:spPr>
        <a:xfrm>
          <a:off x="329183" y="0"/>
          <a:ext cx="3730752" cy="2026285"/>
        </a:xfrm>
        <a:prstGeom prst="rightArrow">
          <a:avLst/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2EF09-4621-4721-9898-74EBBBBD28FE}">
      <dsp:nvSpPr>
        <dsp:cNvPr id="0" name=""/>
        <dsp:cNvSpPr/>
      </dsp:nvSpPr>
      <dsp:spPr>
        <a:xfrm>
          <a:off x="4714" y="607885"/>
          <a:ext cx="1412748" cy="810514"/>
        </a:xfrm>
        <a:prstGeom prst="round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700" b="1" kern="1200" dirty="0" smtClean="0">
              <a:solidFill>
                <a:srgbClr val="C00000"/>
              </a:solidFill>
              <a:latin typeface="Calibri"/>
              <a:ea typeface="+mn-ea"/>
              <a:cs typeface="+mn-cs"/>
            </a:rPr>
            <a:t>E</a:t>
          </a:r>
          <a:r>
            <a:rPr lang="de-DE" sz="17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ingabe der Daten</a:t>
          </a:r>
          <a:endParaRPr lang="de-DE" sz="17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4280" y="647451"/>
        <a:ext cx="1333616" cy="731382"/>
      </dsp:txXfrm>
    </dsp:sp>
    <dsp:sp modelId="{C5170FB4-313F-4A31-8B62-981AAB80096F}">
      <dsp:nvSpPr>
        <dsp:cNvPr id="0" name=""/>
        <dsp:cNvSpPr/>
      </dsp:nvSpPr>
      <dsp:spPr>
        <a:xfrm>
          <a:off x="1488186" y="607885"/>
          <a:ext cx="1412748" cy="810514"/>
        </a:xfrm>
        <a:prstGeom prst="round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700" b="1" kern="1200" dirty="0" smtClean="0">
              <a:solidFill>
                <a:srgbClr val="C00000"/>
              </a:solidFill>
              <a:latin typeface="Calibri"/>
              <a:ea typeface="+mn-ea"/>
              <a:cs typeface="+mn-cs"/>
            </a:rPr>
            <a:t>V</a:t>
          </a:r>
          <a:r>
            <a:rPr lang="de-DE" sz="17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erarbeitung der Daten</a:t>
          </a:r>
          <a:endParaRPr lang="de-DE" sz="17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1527752" y="647451"/>
        <a:ext cx="1333616" cy="731382"/>
      </dsp:txXfrm>
    </dsp:sp>
    <dsp:sp modelId="{04F37E0E-5D83-44F2-AF47-B055B7AACACB}">
      <dsp:nvSpPr>
        <dsp:cNvPr id="0" name=""/>
        <dsp:cNvSpPr/>
      </dsp:nvSpPr>
      <dsp:spPr>
        <a:xfrm>
          <a:off x="2943367" y="621088"/>
          <a:ext cx="1412748" cy="810514"/>
        </a:xfrm>
        <a:prstGeom prst="round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700" b="1" kern="1200" dirty="0" smtClean="0">
              <a:solidFill>
                <a:srgbClr val="C00000"/>
              </a:solidFill>
              <a:latin typeface="Calibri"/>
              <a:ea typeface="+mn-ea"/>
              <a:cs typeface="+mn-cs"/>
            </a:rPr>
            <a:t>A</a:t>
          </a:r>
          <a:r>
            <a:rPr lang="de-DE" sz="17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usgabe der Daten</a:t>
          </a:r>
          <a:endParaRPr lang="de-DE" sz="17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982933" y="660654"/>
        <a:ext cx="1333616" cy="731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AT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AT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Klicken Sie, um die Formate des Vorlagentextes zu bearbeiten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AT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75686AE-ADC4-4D1D-800B-6B98BFCCC8C8}" type="slidenum">
              <a:rPr lang="de-AT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793222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1052736"/>
            <a:ext cx="8420100" cy="5256583"/>
          </a:xfrm>
        </p:spPr>
        <p:txBody>
          <a:bodyPr anchor="t" anchorCtr="0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1A762A-7606-42EB-A0A3-1C2D98CB7A60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Schneider A. (Sne)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23988" y="116632"/>
            <a:ext cx="6841380" cy="504056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 lvl="0"/>
            <a:r>
              <a:rPr lang="de-DE" altLang="de-DE" noProof="0" dirty="0" smtClean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1840215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379819-B5C9-42BC-A9D8-7842DF72488D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Schneider A. (Sne)</a:t>
            </a:r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424608" y="35472"/>
            <a:ext cx="6912768" cy="585216"/>
          </a:xfrm>
          <a:prstGeom prst="rect">
            <a:avLst/>
          </a:prstGeom>
        </p:spPr>
        <p:txBody>
          <a:bodyPr anchor="ctr" anchorCtr="0"/>
          <a:lstStyle>
            <a:lvl1pPr>
              <a:defRPr sz="20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1817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764704"/>
            <a:ext cx="5537200" cy="5361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764704"/>
            <a:ext cx="3259138" cy="53614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78CDDE5-E965-445F-91DD-5FA81EA96044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Schneider A. (Sne)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1568450" y="0"/>
            <a:ext cx="6768926" cy="620688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4476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3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 smtClean="0"/>
              <a:t>Hier</a:t>
            </a:r>
            <a:r>
              <a:rPr lang="en-US" dirty="0" smtClean="0"/>
              <a:t> </a:t>
            </a:r>
            <a:r>
              <a:rPr lang="en-US" dirty="0" err="1" smtClean="0"/>
              <a:t>klicken</a:t>
            </a:r>
            <a:r>
              <a:rPr lang="en-US" dirty="0" smtClean="0"/>
              <a:t>, um Master-</a:t>
            </a:r>
            <a:r>
              <a:rPr lang="en-US" dirty="0" err="1" smtClean="0"/>
              <a:t>Textformat</a:t>
            </a:r>
            <a:r>
              <a:rPr lang="en-US" dirty="0" smtClean="0"/>
              <a:t> </a:t>
            </a:r>
            <a:r>
              <a:rPr lang="en-US" dirty="0" err="1" smtClean="0"/>
              <a:t>zu</a:t>
            </a:r>
            <a:r>
              <a:rPr lang="en-US" dirty="0" smtClean="0"/>
              <a:t> </a:t>
            </a:r>
            <a:r>
              <a:rPr lang="en-US" dirty="0" err="1" smtClean="0"/>
              <a:t>bearbeiten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Zweite</a:t>
            </a:r>
            <a:r>
              <a:rPr lang="en-US" dirty="0" smtClean="0"/>
              <a:t> </a:t>
            </a:r>
            <a:r>
              <a:rPr lang="en-US" dirty="0" err="1" smtClean="0"/>
              <a:t>Ebene</a:t>
            </a:r>
            <a:endParaRPr lang="en-US" dirty="0" smtClean="0"/>
          </a:p>
          <a:p>
            <a:pPr lvl="2"/>
            <a:r>
              <a:rPr lang="en-US" dirty="0" err="1" smtClean="0"/>
              <a:t>Dritte</a:t>
            </a:r>
            <a:r>
              <a:rPr lang="en-US" dirty="0" smtClean="0"/>
              <a:t> </a:t>
            </a:r>
            <a:r>
              <a:rPr lang="en-US" dirty="0" err="1" smtClean="0"/>
              <a:t>Ebene</a:t>
            </a:r>
            <a:endParaRPr lang="en-US" dirty="0" smtClean="0"/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16375" y="6584950"/>
            <a:ext cx="1371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1D34DA49-5885-44AD-BFB9-3F0B4C2A72E9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185150" y="6597352"/>
            <a:ext cx="16637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latin typeface="+mn-lt"/>
              </a:defRPr>
            </a:lvl1pPr>
          </a:lstStyle>
          <a:p>
            <a:r>
              <a:rPr lang="de-DE"/>
              <a:t>Schneider A. (Sne)</a:t>
            </a:r>
          </a:p>
        </p:txBody>
      </p:sp>
      <p:sp>
        <p:nvSpPr>
          <p:cNvPr id="2064" name="Line 16"/>
          <p:cNvSpPr>
            <a:spLocks noChangeShapeType="1"/>
          </p:cNvSpPr>
          <p:nvPr userDrawn="1"/>
        </p:nvSpPr>
        <p:spPr bwMode="auto">
          <a:xfrm>
            <a:off x="71438" y="692696"/>
            <a:ext cx="9705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65" name="Line 17"/>
          <p:cNvSpPr>
            <a:spLocks noChangeShapeType="1"/>
          </p:cNvSpPr>
          <p:nvPr userDrawn="1"/>
        </p:nvSpPr>
        <p:spPr bwMode="auto">
          <a:xfrm>
            <a:off x="57150" y="6524625"/>
            <a:ext cx="9705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67" name="Text Box 19"/>
          <p:cNvSpPr txBox="1">
            <a:spLocks noChangeArrowheads="1"/>
          </p:cNvSpPr>
          <p:nvPr userDrawn="1"/>
        </p:nvSpPr>
        <p:spPr bwMode="auto">
          <a:xfrm>
            <a:off x="55563" y="44450"/>
            <a:ext cx="1296987" cy="576263"/>
          </a:xfrm>
          <a:prstGeom prst="rect">
            <a:avLst/>
          </a:prstGeom>
          <a:solidFill>
            <a:schemeClr val="accent2">
              <a:lumMod val="20000"/>
              <a:lumOff val="80000"/>
              <a:alpha val="32000"/>
            </a:schemeClr>
          </a:solidFill>
          <a:ln w="12700">
            <a:solidFill>
              <a:srgbClr val="000080"/>
            </a:solidFill>
            <a:round/>
            <a:headEnd/>
            <a:tailEnd/>
          </a:ln>
          <a:effectLst/>
          <a:extLst/>
        </p:spPr>
        <p:txBody>
          <a:bodyPr lIns="90000" tIns="45000" rIns="90000" bIns="45000" anchor="ctr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200" dirty="0" smtClean="0">
                <a:effectLst/>
                <a:latin typeface="Times New Roman"/>
                <a:ea typeface="Times New Roman"/>
              </a:rPr>
              <a:t>Totally Integrated Automation </a:t>
            </a:r>
            <a:endParaRPr lang="de-DE" sz="1200" b="1" dirty="0">
              <a:solidFill>
                <a:srgbClr val="000099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048" y="44450"/>
            <a:ext cx="1406488" cy="643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7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baseline="0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BF4100"/>
        </a:buClr>
        <a:buSzPct val="90000"/>
        <a:buFont typeface="Monotype Sorts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90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0007F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272480" y="2564904"/>
            <a:ext cx="6192688" cy="3744416"/>
          </a:xfrm>
        </p:spPr>
        <p:txBody>
          <a:bodyPr/>
          <a:lstStyle/>
          <a:p>
            <a:pPr marL="342900" lvl="0" indent="-342900" algn="just">
              <a:spcAft>
                <a:spcPts val="0"/>
              </a:spcAft>
              <a:buFont typeface="Symbol"/>
              <a:buBlip>
                <a:blip r:embed="rId2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>
                <a:ea typeface="Times New Roman"/>
              </a:rPr>
              <a:t>Bedienungsanleitungen</a:t>
            </a:r>
            <a:endParaRPr lang="de-DE" sz="1600" dirty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>
                <a:ea typeface="Times New Roman"/>
              </a:rPr>
              <a:t>Bedienung eines Parkscheinautomaten</a:t>
            </a:r>
            <a:endParaRPr lang="de-DE" sz="1600" dirty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>
                <a:ea typeface="Times New Roman"/>
              </a:rPr>
              <a:t>Anmeldung in einem Computernetzwerk</a:t>
            </a:r>
            <a:endParaRPr lang="de-DE" sz="1600" dirty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>
                <a:ea typeface="Times New Roman"/>
              </a:rPr>
              <a:t>Montageanleitung für Möbelstücke „IKEA</a:t>
            </a:r>
            <a:r>
              <a:rPr lang="de-DE" sz="1600" dirty="0" smtClean="0">
                <a:ea typeface="Times New Roman"/>
              </a:rPr>
              <a:t>“</a:t>
            </a:r>
            <a:r>
              <a:rPr lang="de-DE" sz="1600" dirty="0">
                <a:ea typeface="Times New Roman"/>
              </a:rPr>
              <a:t> </a:t>
            </a:r>
            <a:endParaRPr lang="de-DE" sz="1600" dirty="0" smtClean="0">
              <a:latin typeface="Times New Roman"/>
              <a:ea typeface="Times New Roman"/>
            </a:endParaRPr>
          </a:p>
          <a:p>
            <a:pPr marL="342900" lvl="0" indent="-342900" algn="just">
              <a:spcAft>
                <a:spcPts val="0"/>
              </a:spcAft>
              <a:buFont typeface="Symbol"/>
              <a:buBlip>
                <a:blip r:embed="rId2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 smtClean="0">
                <a:ea typeface="Times New Roman"/>
              </a:rPr>
              <a:t>Verhaltensvorschriften</a:t>
            </a:r>
            <a:endParaRPr lang="de-DE" sz="1600" dirty="0" smtClean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 smtClean="0">
                <a:ea typeface="Times New Roman"/>
              </a:rPr>
              <a:t>Verhalten </a:t>
            </a:r>
            <a:r>
              <a:rPr lang="de-DE" sz="1600" dirty="0">
                <a:ea typeface="Times New Roman"/>
              </a:rPr>
              <a:t>bei Unfällen</a:t>
            </a:r>
            <a:endParaRPr lang="de-DE" sz="1600" dirty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>
                <a:ea typeface="Times New Roman"/>
              </a:rPr>
              <a:t>Verhalten bei Feueralarm</a:t>
            </a:r>
            <a:endParaRPr lang="de-DE" sz="1600" dirty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>
                <a:ea typeface="Times New Roman"/>
              </a:rPr>
              <a:t>Verhalten bei </a:t>
            </a:r>
            <a:r>
              <a:rPr lang="de-DE" sz="1600" dirty="0" smtClean="0">
                <a:ea typeface="Times New Roman"/>
              </a:rPr>
              <a:t>Amoklauf</a:t>
            </a:r>
            <a:r>
              <a:rPr lang="de-DE" sz="1600" dirty="0">
                <a:ea typeface="Times New Roman"/>
              </a:rPr>
              <a:t> </a:t>
            </a:r>
            <a:endParaRPr lang="de-DE" sz="1600" dirty="0" smtClean="0">
              <a:latin typeface="Times New Roman"/>
              <a:ea typeface="Times New Roman"/>
            </a:endParaRPr>
          </a:p>
          <a:p>
            <a:pPr marL="342900" lvl="0" indent="-342900" algn="just">
              <a:spcAft>
                <a:spcPts val="0"/>
              </a:spcAft>
              <a:buFont typeface="Symbol"/>
              <a:buBlip>
                <a:blip r:embed="rId2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 smtClean="0">
                <a:ea typeface="Times New Roman"/>
              </a:rPr>
              <a:t>Rezepte</a:t>
            </a:r>
            <a:endParaRPr lang="de-DE" sz="1600" dirty="0" smtClean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 smtClean="0">
                <a:ea typeface="Times New Roman"/>
              </a:rPr>
              <a:t>Herstellung </a:t>
            </a:r>
            <a:r>
              <a:rPr lang="de-DE" sz="1600" dirty="0">
                <a:ea typeface="Times New Roman"/>
              </a:rPr>
              <a:t>von Wandfarben</a:t>
            </a:r>
            <a:endParaRPr lang="de-DE" sz="1600" dirty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>
                <a:ea typeface="Times New Roman"/>
              </a:rPr>
              <a:t>Kochen einer Speise</a:t>
            </a:r>
            <a:endParaRPr lang="de-DE" sz="1600" dirty="0">
              <a:latin typeface="Times New Roman"/>
              <a:ea typeface="Times New Roman"/>
            </a:endParaRPr>
          </a:p>
          <a:p>
            <a:pPr marL="742950" lvl="1" indent="-285750" algn="just">
              <a:spcAft>
                <a:spcPts val="0"/>
              </a:spcAft>
              <a:buFont typeface="Symbol"/>
              <a:buBlip>
                <a:blip r:embed="rId3"/>
              </a:buBlip>
              <a:tabLst>
                <a:tab pos="914400" algn="l"/>
                <a:tab pos="1371600" algn="l"/>
                <a:tab pos="1943100" algn="l"/>
                <a:tab pos="4114800" algn="l"/>
                <a:tab pos="5029200" algn="l"/>
              </a:tabLst>
            </a:pPr>
            <a:r>
              <a:rPr lang="de-DE" sz="1600" dirty="0">
                <a:ea typeface="Times New Roman"/>
              </a:rPr>
              <a:t>Mixen </a:t>
            </a:r>
            <a:r>
              <a:rPr lang="de-DE" sz="1600" dirty="0" smtClean="0">
                <a:ea typeface="Times New Roman"/>
              </a:rPr>
              <a:t>von Gin </a:t>
            </a:r>
            <a:r>
              <a:rPr lang="de-DE" sz="1600" dirty="0">
                <a:ea typeface="Times New Roman"/>
              </a:rPr>
              <a:t>Tonic</a:t>
            </a:r>
            <a:endParaRPr lang="de-DE" sz="1600" dirty="0">
              <a:latin typeface="Times New Roman"/>
              <a:ea typeface="Times New Roman"/>
            </a:endParaRPr>
          </a:p>
          <a:p>
            <a:endParaRPr lang="de-DE" b="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A762A-7606-42EB-A0A3-1C2D98CB7A60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Algorithmen</a:t>
            </a:r>
            <a:endParaRPr lang="de-DE" dirty="0"/>
          </a:p>
        </p:txBody>
      </p:sp>
      <p:sp>
        <p:nvSpPr>
          <p:cNvPr id="6" name="Abgerundetes Rechteck 5"/>
          <p:cNvSpPr/>
          <p:nvPr/>
        </p:nvSpPr>
        <p:spPr>
          <a:xfrm>
            <a:off x="200472" y="836713"/>
            <a:ext cx="9553962" cy="15841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algn="l" rotWithShape="0">
              <a:schemeClr val="accent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de-DE" sz="1800" b="1" dirty="0">
                <a:solidFill>
                  <a:srgbClr val="17375E"/>
                </a:solidFill>
                <a:effectLst/>
                <a:latin typeface="Arial"/>
                <a:ea typeface="Times New Roman"/>
              </a:rPr>
              <a:t>Ein Algorithmus ist eine formale Handlungsvorschrift zur Lösung von Instanzen einer bestimmten Problemklasse.</a:t>
            </a:r>
            <a:endParaRPr lang="de-DE" sz="1800" dirty="0">
              <a:effectLst/>
              <a:latin typeface="Times New Roman"/>
              <a:ea typeface="Times New Roman"/>
            </a:endParaRPr>
          </a:p>
          <a:p>
            <a:pPr algn="ctr">
              <a:spcAft>
                <a:spcPts val="0"/>
              </a:spcAft>
            </a:pPr>
            <a:r>
              <a:rPr lang="de-DE" sz="1800" b="1" dirty="0">
                <a:solidFill>
                  <a:srgbClr val="17375E"/>
                </a:solidFill>
                <a:effectLst/>
                <a:latin typeface="Arial"/>
                <a:ea typeface="Times New Roman"/>
              </a:rPr>
              <a:t> </a:t>
            </a:r>
            <a:endParaRPr lang="de-DE" sz="1800" dirty="0">
              <a:effectLst/>
              <a:latin typeface="Times New Roman"/>
              <a:ea typeface="Times New Roman"/>
            </a:endParaRPr>
          </a:p>
          <a:p>
            <a:pPr algn="ctr">
              <a:spcAft>
                <a:spcPts val="0"/>
              </a:spcAft>
            </a:pPr>
            <a:r>
              <a:rPr lang="de-DE" sz="1200" b="1" dirty="0">
                <a:solidFill>
                  <a:srgbClr val="17375E"/>
                </a:solidFill>
                <a:effectLst/>
                <a:ea typeface="Times New Roman"/>
              </a:rPr>
              <a:t>Die Bezeichnung ist abgeleitet aus dem Namen des persischen Gelehrten Muhammad </a:t>
            </a:r>
            <a:r>
              <a:rPr lang="de-DE" sz="1200" b="1" dirty="0" err="1">
                <a:solidFill>
                  <a:srgbClr val="17375E"/>
                </a:solidFill>
                <a:effectLst/>
                <a:ea typeface="Times New Roman"/>
              </a:rPr>
              <a:t>ibn</a:t>
            </a:r>
            <a:r>
              <a:rPr lang="de-DE" sz="1200" b="1" dirty="0">
                <a:solidFill>
                  <a:srgbClr val="17375E"/>
                </a:solidFill>
                <a:effectLst/>
                <a:ea typeface="Times New Roman"/>
              </a:rPr>
              <a:t> Musa al-</a:t>
            </a:r>
            <a:r>
              <a:rPr lang="de-DE" sz="1200" b="1" dirty="0" err="1">
                <a:solidFill>
                  <a:srgbClr val="17375E"/>
                </a:solidFill>
                <a:effectLst/>
                <a:ea typeface="Times New Roman"/>
              </a:rPr>
              <a:t>Chwarizmi</a:t>
            </a:r>
            <a:r>
              <a:rPr lang="de-DE" sz="1200" b="1" dirty="0">
                <a:solidFill>
                  <a:srgbClr val="17375E"/>
                </a:solidFill>
                <a:effectLst/>
                <a:ea typeface="Times New Roman"/>
              </a:rPr>
              <a:t>.</a:t>
            </a:r>
            <a:endParaRPr lang="de-DE" sz="1200" dirty="0">
              <a:effectLst/>
              <a:ea typeface="Times New Roman"/>
            </a:endParaRPr>
          </a:p>
        </p:txBody>
      </p:sp>
      <p:pic>
        <p:nvPicPr>
          <p:cNvPr id="7" name="Grafik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192" y="2564904"/>
            <a:ext cx="2943984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5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0"/>
              </a:spcAft>
            </a:pPr>
            <a:r>
              <a:rPr lang="de-DE" sz="2000" b="1" dirty="0" smtClean="0">
                <a:solidFill>
                  <a:srgbClr val="000080"/>
                </a:solidFill>
                <a:latin typeface="Times New Roman"/>
                <a:ea typeface="Times New Roman"/>
              </a:rPr>
              <a:t>Daten </a:t>
            </a:r>
            <a:r>
              <a:rPr lang="de-DE" sz="2000" dirty="0" smtClean="0">
                <a:solidFill>
                  <a:srgbClr val="000080"/>
                </a:solidFill>
                <a:latin typeface="Times New Roman"/>
                <a:ea typeface="Times New Roman"/>
              </a:rPr>
              <a:t>sind die Dinge, die verarbeitet werden.</a:t>
            </a:r>
            <a:endParaRPr lang="de-DE" sz="2000" dirty="0" smtClean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0472" y="1484784"/>
            <a:ext cx="9361040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0"/>
              </a:spcAft>
            </a:pPr>
            <a:r>
              <a:rPr lang="de-DE" sz="2000" b="1" dirty="0" smtClean="0">
                <a:solidFill>
                  <a:srgbClr val="000080"/>
                </a:solidFill>
                <a:latin typeface="Times New Roman"/>
                <a:ea typeface="Times New Roman"/>
              </a:rPr>
              <a:t>Algorithmen </a:t>
            </a:r>
            <a:r>
              <a:rPr lang="de-DE" sz="2000" dirty="0" smtClean="0">
                <a:solidFill>
                  <a:srgbClr val="000080"/>
                </a:solidFill>
                <a:latin typeface="Times New Roman"/>
                <a:ea typeface="Times New Roman"/>
              </a:rPr>
              <a:t>sind die Handlungen, die Daten verarbeiten.</a:t>
            </a:r>
            <a:endParaRPr lang="de-DE" sz="2000" dirty="0" smtClean="0">
              <a:latin typeface="Times New Roman"/>
              <a:ea typeface="Times New Roman"/>
            </a:endParaRPr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1873598402"/>
              </p:ext>
            </p:extLst>
          </p:nvPr>
        </p:nvGraphicFramePr>
        <p:xfrm>
          <a:off x="2673904" y="3058899"/>
          <a:ext cx="4389120" cy="2026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200472" y="2132856"/>
            <a:ext cx="9361040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0"/>
              </a:spcAft>
            </a:pPr>
            <a:r>
              <a:rPr lang="de-DE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EVA</a:t>
            </a:r>
            <a:r>
              <a:rPr lang="de-DE" sz="2000" dirty="0" smtClean="0">
                <a:solidFill>
                  <a:srgbClr val="000080"/>
                </a:solidFill>
                <a:latin typeface="Times New Roman"/>
                <a:ea typeface="Times New Roman"/>
              </a:rPr>
              <a:t>-Prinzip der </a:t>
            </a:r>
            <a:r>
              <a:rPr lang="en-US" sz="2000" b="1" dirty="0">
                <a:solidFill>
                  <a:srgbClr val="000080"/>
                </a:solidFill>
                <a:latin typeface="Times New Roman"/>
                <a:ea typeface="Times New Roman"/>
              </a:rPr>
              <a:t>Information Technology</a:t>
            </a:r>
            <a:r>
              <a:rPr lang="en-US" sz="2000" dirty="0">
                <a:solidFill>
                  <a:srgbClr val="000080"/>
                </a:solidFill>
                <a:latin typeface="Times New Roman"/>
                <a:ea typeface="Times New Roman"/>
              </a:rPr>
              <a:t> (IT) und </a:t>
            </a:r>
            <a:r>
              <a:rPr lang="en-US" sz="2000" b="1" dirty="0">
                <a:solidFill>
                  <a:srgbClr val="000080"/>
                </a:solidFill>
                <a:latin typeface="Times New Roman"/>
                <a:ea typeface="Times New Roman"/>
              </a:rPr>
              <a:t>Operation Technology</a:t>
            </a:r>
            <a:r>
              <a:rPr lang="en-US" sz="2000" dirty="0">
                <a:solidFill>
                  <a:srgbClr val="000080"/>
                </a:solidFill>
                <a:latin typeface="Times New Roman"/>
                <a:ea typeface="Times New Roman"/>
              </a:rPr>
              <a:t> (OT)</a:t>
            </a:r>
            <a:endParaRPr lang="de-DE" sz="2000" dirty="0" smtClean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744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Algorithmen: Charakteristischen Eigenschaften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200472" y="982177"/>
            <a:ext cx="95770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1000"/>
              </a:spcAft>
            </a:pPr>
            <a:r>
              <a:rPr lang="de-DE" sz="2000" b="1" dirty="0" smtClean="0">
                <a:solidFill>
                  <a:srgbClr val="000080"/>
                </a:solidFill>
                <a:latin typeface="+mn-lt"/>
                <a:cs typeface="Arial" pitchFamily="34" charset="0"/>
              </a:rPr>
              <a:t>Endlichkeit</a:t>
            </a:r>
            <a:r>
              <a:rPr lang="de-DE" sz="2000" dirty="0" smtClean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 smtClean="0">
                <a:solidFill>
                  <a:srgbClr val="000080"/>
                </a:solidFill>
                <a:latin typeface="+mn-lt"/>
                <a:cs typeface="Arial" pitchFamily="34" charset="0"/>
                <a:sym typeface="Symbol"/>
              </a:rPr>
              <a:t>	</a:t>
            </a:r>
            <a:r>
              <a:rPr lang="de-DE" sz="2000" dirty="0" smtClean="0">
                <a:latin typeface="+mn-lt"/>
                <a:cs typeface="Arial" pitchFamily="34" charset="0"/>
                <a:sym typeface="Symbol"/>
              </a:rPr>
              <a:t>Ein </a:t>
            </a:r>
            <a:r>
              <a:rPr lang="de-DE" sz="2000" dirty="0">
                <a:latin typeface="+mn-lt"/>
                <a:cs typeface="Arial" pitchFamily="34" charset="0"/>
                <a:sym typeface="Symbol"/>
              </a:rPr>
              <a:t>Algorithmus </a:t>
            </a:r>
            <a:r>
              <a:rPr lang="de-DE" sz="2000" dirty="0" smtClean="0">
                <a:latin typeface="+mn-lt"/>
                <a:cs typeface="Arial" pitchFamily="34" charset="0"/>
                <a:sym typeface="Symbol"/>
              </a:rPr>
              <a:t>muss </a:t>
            </a:r>
            <a:r>
              <a:rPr lang="de-DE" sz="2000" dirty="0">
                <a:latin typeface="+mn-lt"/>
                <a:cs typeface="Arial" pitchFamily="34" charset="0"/>
                <a:sym typeface="Symbol"/>
              </a:rPr>
              <a:t>aus einer </a:t>
            </a:r>
            <a:r>
              <a:rPr lang="de-DE" sz="2000" dirty="0" smtClean="0">
                <a:latin typeface="+mn-lt"/>
                <a:cs typeface="Arial" pitchFamily="34" charset="0"/>
                <a:sym typeface="Symbol"/>
              </a:rPr>
              <a:t>endlichen Anzahl von 				Lösungsschritten bestehen und nach einer endlichen Zeit 			das Ende erreichen.</a:t>
            </a:r>
            <a:endParaRPr lang="de-DE" sz="2000" dirty="0" smtClean="0">
              <a:latin typeface="+mn-lt"/>
              <a:cs typeface="Arial" pitchFamily="34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200472" y="2088818"/>
            <a:ext cx="95770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1000"/>
              </a:spcAft>
            </a:pPr>
            <a:r>
              <a:rPr lang="de-DE" sz="2000" b="1" dirty="0" smtClean="0">
                <a:solidFill>
                  <a:srgbClr val="000080"/>
                </a:solidFill>
                <a:latin typeface="+mn-lt"/>
                <a:cs typeface="Arial" pitchFamily="34" charset="0"/>
              </a:rPr>
              <a:t>Eindeutigkeit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  <a:sym typeface="Symbol"/>
              </a:rPr>
              <a:t>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 smtClean="0">
                <a:latin typeface="+mn-lt"/>
                <a:cs typeface="Arial" pitchFamily="34" charset="0"/>
              </a:rPr>
              <a:t>Die einzelnen Schritte eines Algorithmus und ihre 				Aufeinanderfolge müssen eindeutig beschrieben sein.</a:t>
            </a:r>
            <a:endParaRPr lang="de-DE" sz="2000" dirty="0" smtClean="0">
              <a:solidFill>
                <a:srgbClr val="000080"/>
              </a:solidFill>
              <a:latin typeface="+mn-lt"/>
              <a:cs typeface="Arial" pitchFamily="34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200472" y="3153162"/>
            <a:ext cx="95770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1000"/>
              </a:spcAft>
            </a:pPr>
            <a:r>
              <a:rPr lang="de-DE" sz="2000" b="1" dirty="0" smtClean="0">
                <a:solidFill>
                  <a:srgbClr val="000080"/>
                </a:solidFill>
                <a:latin typeface="+mn-lt"/>
                <a:cs typeface="Arial" pitchFamily="34" charset="0"/>
              </a:rPr>
              <a:t>Allgemeinheit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  <a:sym typeface="Symbol"/>
              </a:rPr>
              <a:t>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>
                <a:latin typeface="+mn-lt"/>
                <a:cs typeface="Arial" pitchFamily="34" charset="0"/>
              </a:rPr>
              <a:t>Ein Algorithmus darf nicht nur dir Lösung einer speziellen </a:t>
            </a:r>
            <a:r>
              <a:rPr lang="de-DE" sz="2000" dirty="0" smtClean="0">
                <a:latin typeface="+mn-lt"/>
                <a:cs typeface="Arial" pitchFamily="34" charset="0"/>
              </a:rPr>
              <a:t>			Aufgabe (x²+2x+1=0) sein, sondern muss die Lösung 				einer Klasse von Problemen (ax²+bx+c=0) beschreiben.</a:t>
            </a:r>
            <a:endParaRPr lang="de-DE" sz="2000" dirty="0" smtClean="0">
              <a:solidFill>
                <a:srgbClr val="000080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200472" y="4293096"/>
            <a:ext cx="95770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1000"/>
              </a:spcAft>
            </a:pPr>
            <a:r>
              <a:rPr lang="de-DE" sz="2000" b="1" dirty="0" smtClean="0">
                <a:solidFill>
                  <a:srgbClr val="000080"/>
                </a:solidFill>
                <a:latin typeface="+mn-lt"/>
                <a:cs typeface="Arial" pitchFamily="34" charset="0"/>
              </a:rPr>
              <a:t>Determiniertheit	</a:t>
            </a:r>
            <a:r>
              <a:rPr lang="de-DE" sz="2000" dirty="0" smtClean="0">
                <a:solidFill>
                  <a:srgbClr val="000080"/>
                </a:solidFill>
                <a:latin typeface="+mn-lt"/>
                <a:cs typeface="Arial" pitchFamily="34" charset="0"/>
                <a:sym typeface="Symbol"/>
              </a:rPr>
              <a:t>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 smtClean="0">
                <a:latin typeface="+mn-lt"/>
                <a:cs typeface="Arial" pitchFamily="34" charset="0"/>
              </a:rPr>
              <a:t>Die mehrmalige Anwendung des Algorithmus mit 				denselben Eingangsdaten muss immer wieder 					dieselben Ausgangsdaten liefern.</a:t>
            </a:r>
            <a:endParaRPr lang="de-DE" sz="2000" dirty="0" smtClean="0">
              <a:solidFill>
                <a:srgbClr val="000080"/>
              </a:solidFill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98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Algorithmen: Charakteristischen Eigenschaften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200472" y="982177"/>
            <a:ext cx="95770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1000"/>
              </a:spcAft>
            </a:pPr>
            <a:r>
              <a:rPr lang="de-DE" sz="2000" b="1" dirty="0" smtClean="0">
                <a:solidFill>
                  <a:srgbClr val="000080"/>
                </a:solidFill>
                <a:latin typeface="+mn-lt"/>
                <a:cs typeface="Arial" pitchFamily="34" charset="0"/>
              </a:rPr>
              <a:t>Effektivität</a:t>
            </a:r>
            <a:r>
              <a:rPr lang="de-DE" sz="2000" dirty="0" smtClean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 smtClean="0">
                <a:solidFill>
                  <a:srgbClr val="000080"/>
                </a:solidFill>
                <a:latin typeface="+mn-lt"/>
                <a:cs typeface="Arial" pitchFamily="34" charset="0"/>
                <a:sym typeface="Symbol"/>
              </a:rPr>
              <a:t>	</a:t>
            </a:r>
            <a:r>
              <a:rPr lang="de-DE" sz="2000" dirty="0" smtClean="0">
                <a:latin typeface="+mn-lt"/>
                <a:cs typeface="Arial" pitchFamily="34" charset="0"/>
                <a:sym typeface="Symbol"/>
              </a:rPr>
              <a:t>Ein </a:t>
            </a:r>
            <a:r>
              <a:rPr lang="de-DE" sz="2000" dirty="0">
                <a:latin typeface="+mn-lt"/>
                <a:cs typeface="Arial" pitchFamily="34" charset="0"/>
                <a:sym typeface="Symbol"/>
              </a:rPr>
              <a:t>Algorithmus </a:t>
            </a:r>
            <a:r>
              <a:rPr lang="de-DE" sz="2000" dirty="0" smtClean="0">
                <a:latin typeface="+mn-lt"/>
                <a:cs typeface="Arial" pitchFamily="34" charset="0"/>
                <a:sym typeface="Symbol"/>
              </a:rPr>
              <a:t>muss real von einer Maschine ausführbar 			sein.</a:t>
            </a:r>
            <a:endParaRPr lang="de-DE" sz="2000" dirty="0" smtClean="0">
              <a:latin typeface="+mn-lt"/>
              <a:cs typeface="Arial" pitchFamily="34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200472" y="1772816"/>
            <a:ext cx="95770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1000"/>
              </a:spcAft>
            </a:pPr>
            <a:r>
              <a:rPr lang="de-DE" sz="2000" b="1" dirty="0">
                <a:solidFill>
                  <a:srgbClr val="000080"/>
                </a:solidFill>
                <a:cs typeface="Arial" pitchFamily="34" charset="0"/>
              </a:rPr>
              <a:t>Effizienz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  <a:sym typeface="Symbol"/>
              </a:rPr>
              <a:t></a:t>
            </a:r>
            <a:r>
              <a:rPr lang="de-DE" sz="2000" dirty="0">
                <a:solidFill>
                  <a:srgbClr val="000080"/>
                </a:solidFill>
                <a:latin typeface="+mn-lt"/>
                <a:cs typeface="Arial" pitchFamily="34" charset="0"/>
              </a:rPr>
              <a:t>	</a:t>
            </a:r>
            <a:r>
              <a:rPr lang="de-DE" sz="2000" dirty="0">
                <a:latin typeface="+mn-lt"/>
                <a:cs typeface="Arial" pitchFamily="34" charset="0"/>
              </a:rPr>
              <a:t>Ein </a:t>
            </a:r>
            <a:r>
              <a:rPr lang="de-DE" sz="2000" dirty="0" smtClean="0">
                <a:latin typeface="+mn-lt"/>
                <a:cs typeface="Arial" pitchFamily="34" charset="0"/>
              </a:rPr>
              <a:t>Algorithmus muss möglichst wenig Ressourcen einer 			Maschine, d.h. möglichst wenig Rechenzeit und möglichst 			wenig Speicher in Anspruch nehmen.</a:t>
            </a:r>
            <a:endParaRPr lang="de-DE" sz="2000" dirty="0" smtClean="0">
              <a:solidFill>
                <a:srgbClr val="000080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87944" y="3212976"/>
            <a:ext cx="9361040" cy="2232248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de-DE" sz="2000" dirty="0" smtClean="0"/>
          </a:p>
          <a:p>
            <a:pPr algn="ctr"/>
            <a:r>
              <a:rPr lang="de-DE" sz="2000" dirty="0" smtClean="0"/>
              <a:t>In </a:t>
            </a:r>
            <a:r>
              <a:rPr lang="de-DE" sz="2000" dirty="0"/>
              <a:t>der Informatik wurden Effizienzmaße für Algorithmen, die sogenannte</a:t>
            </a:r>
          </a:p>
          <a:p>
            <a:pPr algn="ctr"/>
            <a:r>
              <a:rPr lang="de-DE" sz="2000" b="1" dirty="0">
                <a:solidFill>
                  <a:srgbClr val="000080"/>
                </a:solidFill>
                <a:latin typeface="Times New Roman"/>
                <a:ea typeface="Times New Roman"/>
              </a:rPr>
              <a:t>Zeit- und Speicherkomplexität </a:t>
            </a:r>
            <a:r>
              <a:rPr lang="de-DE" sz="2000" dirty="0"/>
              <a:t>entwickelt, mit der Algorithmen bewertet</a:t>
            </a:r>
          </a:p>
          <a:p>
            <a:pPr algn="ctr"/>
            <a:r>
              <a:rPr lang="de-DE" sz="2000" dirty="0"/>
              <a:t>werden können. Dies ist praktisch sehr wichtig, da oft zur Berechnung</a:t>
            </a:r>
          </a:p>
          <a:p>
            <a:pPr algn="ctr"/>
            <a:r>
              <a:rPr lang="de-DE" sz="2000" dirty="0"/>
              <a:t>einer Funktion mehrere Algorithmen angegeben werden können.</a:t>
            </a:r>
            <a:r>
              <a:rPr lang="de-DE" sz="2000" dirty="0" smtClean="0">
                <a:solidFill>
                  <a:srgbClr val="000080"/>
                </a:solidFill>
                <a:latin typeface="Times New Roman"/>
                <a:ea typeface="Times New Roman"/>
              </a:rPr>
              <a:t>.</a:t>
            </a:r>
            <a:endParaRPr lang="de-DE" sz="2000" dirty="0" smtClean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826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Algorithmus Begriff</a:t>
            </a:r>
            <a:endParaRPr lang="de-DE" dirty="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980728"/>
            <a:ext cx="9361040" cy="4176464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z="2000" b="1" dirty="0" smtClean="0"/>
              <a:t>Ein Algorithmus</a:t>
            </a:r>
            <a:endParaRPr lang="de-DE" sz="2000" b="1" dirty="0"/>
          </a:p>
          <a:p>
            <a:pPr lvl="0"/>
            <a:endParaRPr lang="de-DE" sz="20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besteht in der Regel aus einer Folge von Schritten,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f</a:t>
            </a:r>
            <a:r>
              <a:rPr lang="de-DE" sz="2000" dirty="0" smtClean="0"/>
              <a:t>ührt bei korrekter Abarbeitung zur Lösung der Aufgabe,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kann auch rein theoretisch oder umgangssprachlich beschrieben werden.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</a:t>
            </a:r>
            <a:r>
              <a:rPr lang="de-DE" sz="2000" dirty="0" smtClean="0"/>
              <a:t>st eine eindeutige Vorschrift zur Lösung einer Aufgabe. Die Vorschrift besteht aus einer Folge von Anweisungen. Die Anweisungen beziehen sich auf Operationen, die jeweils den nächsten Lösungsschritt veranlassen.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besteht aus endlich lange Vorschriften, bestehend aus Einzelanweisungen,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wird in einer festgelegten Sprache abgefasst,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besteht aus einer endlichen Folge von Schritten, mit der aus bekannten Eingangsdaten neue Ausgangsdaten entstehen   </a:t>
            </a:r>
            <a:r>
              <a:rPr lang="de-DE" sz="2000" dirty="0"/>
              <a:t>	</a:t>
            </a:r>
            <a:endParaRPr lang="de-DE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59839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Folien1">
  <a:themeElements>
    <a:clrScheme name="Folien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Folien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L:\HERDT-Kursdesigner\HERDT\Vorlagen\Folien1.pot</Template>
  <TotalTime>0</TotalTime>
  <Words>256</Words>
  <Application>Microsoft Office PowerPoint</Application>
  <PresentationFormat>A4-Papier (210x297 mm)</PresentationFormat>
  <Paragraphs>56</Paragraphs>
  <Slides>5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6" baseType="lpstr">
      <vt:lpstr>Folien1</vt:lpstr>
      <vt:lpstr>Algorithmen</vt:lpstr>
      <vt:lpstr>Algorithmen</vt:lpstr>
      <vt:lpstr>Algorithmen: Charakteristischen Eigenschaften</vt:lpstr>
      <vt:lpstr>Algorithmen: Charakteristischen Eigenschaften</vt:lpstr>
      <vt:lpstr>Algorithmus Begriff</vt:lpstr>
    </vt:vector>
  </TitlesOfParts>
  <Company>Herdt Verlag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Access</dc:title>
  <dc:creator>Andreas Schneider</dc:creator>
  <cp:lastModifiedBy>Andreas Schneider</cp:lastModifiedBy>
  <cp:revision>176</cp:revision>
  <dcterms:created xsi:type="dcterms:W3CDTF">2000-08-18T09:51:53Z</dcterms:created>
  <dcterms:modified xsi:type="dcterms:W3CDTF">2024-02-26T09:29:09Z</dcterms:modified>
</cp:coreProperties>
</file>